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5F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2211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F2147-174A-221E-83C1-F1E8B1CC8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138FE1-5339-F547-EE37-90FA4B9BA5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174648-28AF-749A-0986-CB51E45C7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C47EE-68C1-5D67-CBCC-63EDCE4E43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590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83480" y="7143"/>
            <a:ext cx="4114800" cy="51435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503922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7200" dirty="0">
              <a:solidFill>
                <a:srgbClr val="00206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0" y="45720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45720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45720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45720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45720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128016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28016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128016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9480" y="128016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128016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21031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21031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21031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69480" y="21031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0" y="21031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292608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292608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292608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69480" y="292608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63840" y="292608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374904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0760" y="374904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75120" y="374904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69480" y="374904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0" y="374904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4389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>
              <a:latin typeface="Baskerville Old Face" panose="0202060208050502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02920" cy="6400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>
              <a:latin typeface="Bookman Old Style" panose="0205060405050502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560" y="914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What is Edge Computing?</a:t>
            </a:r>
            <a:endParaRPr lang="en-US" sz="1300" dirty="0">
              <a:latin typeface="Bookman Old Style" panose="0205060405050502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28800"/>
            <a:ext cx="502920" cy="6400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288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>
              <a:latin typeface="Bookman Old Style" panose="0205060405050502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51560" y="1828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Why Do We Need It?</a:t>
            </a:r>
            <a:endParaRPr lang="en-US" sz="1300" dirty="0">
              <a:latin typeface="Bookman Old Style" panose="0205060405050502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743200"/>
            <a:ext cx="502920" cy="6400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432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>
              <a:latin typeface="Bookman Old Style" panose="0205060405050502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51560" y="2743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Architecture &amp; Layers</a:t>
            </a:r>
            <a:endParaRPr lang="en-US" sz="1300" dirty="0">
              <a:latin typeface="Bookman Old Style" panose="0205060405050502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57600"/>
            <a:ext cx="502920" cy="6400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576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>
              <a:latin typeface="Bookman Old Style" panose="0205060405050502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5156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>
              <a:latin typeface="Bookman Old Style" panose="0205060405050502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46320" y="91440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914400"/>
            <a:ext cx="502920" cy="6400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9144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>
              <a:latin typeface="Bookman Old Style" panose="0205060405050502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40680" y="914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Key Technologies</a:t>
            </a:r>
            <a:endParaRPr lang="en-US" sz="1300" dirty="0">
              <a:latin typeface="Bookman Old Style" panose="020506040505050202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46320" y="182880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828800"/>
            <a:ext cx="502920" cy="6400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8288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>
              <a:latin typeface="Bookman Old Style" panose="0205060405050502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440680" y="1828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Security &amp; Privacy</a:t>
            </a:r>
            <a:endParaRPr lang="en-US" sz="1300" dirty="0">
              <a:latin typeface="Bookman Old Style" panose="020506040505050202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846320" y="274320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743200"/>
            <a:ext cx="502920" cy="6400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7432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>
              <a:latin typeface="Bookman Old Style" panose="020506040505050202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440680" y="2743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300" dirty="0">
              <a:latin typeface="Bookman Old Style" panose="020506040505050202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846320" y="365760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3657600"/>
            <a:ext cx="502920" cy="6400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6576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>
              <a:latin typeface="Bookman Old Style" panose="020506040505050202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44068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Challenges &amp; Future</a:t>
            </a:r>
            <a:endParaRPr lang="en-US" sz="1300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  <p:bldP spid="14" grpId="0" animBg="1"/>
      <p:bldP spid="15" grpId="0" animBg="1"/>
      <p:bldP spid="18" grpId="0" animBg="1"/>
      <p:bldP spid="19" grpId="0" animBg="1"/>
      <p:bldP spid="22" grpId="0" animBg="1"/>
      <p:bldP spid="23" grpId="0" animBg="1"/>
      <p:bldP spid="26" grpId="0" animBg="1"/>
      <p:bldP spid="27" grpId="0" animBg="1"/>
      <p:bldP spid="30" grpId="0" animBg="1"/>
      <p:bldP spid="31" grpId="0" animBg="1"/>
      <p:bldP spid="34" grpId="0" animBg="1"/>
      <p:bldP spid="3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WHAT IS EDGE COMPUTING?</a:t>
            </a:r>
            <a:endParaRPr lang="en-US" sz="2000" dirty="0">
              <a:latin typeface="Baskerville Old Face" panose="0202060208050502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960120"/>
          </a:xfrm>
          <a:prstGeom prst="rect">
            <a:avLst/>
          </a:prstGeom>
          <a:solidFill>
            <a:srgbClr val="E0F7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412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US" sz="140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A distributed computing paradigm that enables data processing to occur </a:t>
            </a:r>
            <a:r>
              <a:rPr lang="en-US" sz="1400" b="1" dirty="0">
                <a:solidFill>
                  <a:srgbClr val="1B4F72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closer to the source of data generation</a:t>
            </a:r>
            <a:r>
              <a:rPr lang="en-US" sz="140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rather than relying entirely on centralized cloud data centers.</a:t>
            </a:r>
            <a:endParaRPr lang="en-US" sz="2800" dirty="0">
              <a:latin typeface="Bookman Old Style" panose="0205060405050502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2651760" cy="2834640"/>
          </a:xfrm>
          <a:prstGeom prst="rect">
            <a:avLst/>
          </a:prstGeom>
          <a:solidFill>
            <a:srgbClr val="F0F8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965960"/>
            <a:ext cx="265176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96596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EVOLUTION:</a:t>
            </a:r>
            <a:endParaRPr lang="en-US" sz="1200" dirty="0">
              <a:latin typeface="Bookman Old Style" panose="0205060405050502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8912" y="2542032"/>
            <a:ext cx="2505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>
              <a:latin typeface="Bookman Old Style" panose="0205060405050502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318211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150" dirty="0">
              <a:solidFill>
                <a:srgbClr val="1E293B"/>
              </a:solidFill>
              <a:latin typeface="Bookman Old Style" panose="02050604050505020204" pitchFamily="18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1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Not a new concept but evolution of distributed computing integrating cloud, networking, and embedded systems.</a:t>
            </a:r>
            <a:endParaRPr lang="en-US" sz="1150" dirty="0">
              <a:latin typeface="Bookman Old Style" panose="020506040505050202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0" y="1965960"/>
            <a:ext cx="2651760" cy="2834640"/>
          </a:xfrm>
          <a:prstGeom prst="rect">
            <a:avLst/>
          </a:prstGeom>
          <a:solidFill>
            <a:srgbClr val="F0F8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965960"/>
            <a:ext cx="265176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196596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CORE IDEA:</a:t>
            </a:r>
            <a:endParaRPr lang="en-US" sz="1200" dirty="0">
              <a:latin typeface="Bookman Old Style" panose="0205060405050502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73552" y="2542032"/>
            <a:ext cx="2505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>
              <a:latin typeface="Bookman Old Style" panose="0205060405050502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37560" y="318211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150" dirty="0">
              <a:solidFill>
                <a:srgbClr val="1E293B"/>
              </a:solidFill>
              <a:latin typeface="Bookman Old Style" panose="02050604050505020204" pitchFamily="18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1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Move computation and storage closer to where data is created. Less travel = less latency.</a:t>
            </a:r>
          </a:p>
        </p:txBody>
      </p:sp>
      <p:sp>
        <p:nvSpPr>
          <p:cNvPr id="16" name="Shape 14"/>
          <p:cNvSpPr/>
          <p:nvPr/>
        </p:nvSpPr>
        <p:spPr>
          <a:xfrm>
            <a:off x="6035040" y="1965960"/>
            <a:ext cx="2651760" cy="2834640"/>
          </a:xfrm>
          <a:prstGeom prst="rect">
            <a:avLst/>
          </a:prstGeom>
          <a:solidFill>
            <a:srgbClr val="F0F8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965960"/>
            <a:ext cx="265176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8192" y="196596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IMPACT:</a:t>
            </a:r>
            <a:endParaRPr lang="en-US" sz="1200" dirty="0">
              <a:latin typeface="Bookman Old Style" panose="0205060405050502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08192" y="2542032"/>
            <a:ext cx="2505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>
              <a:latin typeface="Bookman Old Style" panose="020506040505050202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72200" y="318211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>
              <a:solidFill>
                <a:srgbClr val="1E293B"/>
              </a:solidFill>
              <a:latin typeface="Bookman Old Style" panose="02050604050505020204" pitchFamily="18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By 2020: 50B+ connected devices, 40 ZB total global data. 45% processed at the edge</a:t>
            </a:r>
            <a:endParaRPr lang="en-US" sz="1150" dirty="0">
              <a:latin typeface="Bookman Old Style" panose="02050604050505020204" pitchFamily="18" charset="0"/>
            </a:endParaRP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264995DA-92E4-80A7-9CE4-BF0EA5058C2E}"/>
              </a:ext>
            </a:extLst>
          </p:cNvPr>
          <p:cNvSpPr/>
          <p:nvPr/>
        </p:nvSpPr>
        <p:spPr>
          <a:xfrm>
            <a:off x="1280160" y="2606040"/>
            <a:ext cx="731520" cy="731520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2" name="Image 4" descr="preencoded.png">
            <a:extLst>
              <a:ext uri="{FF2B5EF4-FFF2-40B4-BE49-F238E27FC236}">
                <a16:creationId xmlns:a16="http://schemas.microsoft.com/office/drawing/2014/main" id="{1F39B024-91C2-5CA2-F6DC-AA27A276A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2679192"/>
            <a:ext cx="585216" cy="585216"/>
          </a:xfrm>
          <a:prstGeom prst="rect">
            <a:avLst/>
          </a:prstGeom>
        </p:spPr>
      </p:pic>
      <p:sp>
        <p:nvSpPr>
          <p:cNvPr id="23" name="Shape 21">
            <a:extLst>
              <a:ext uri="{FF2B5EF4-FFF2-40B4-BE49-F238E27FC236}">
                <a16:creationId xmlns:a16="http://schemas.microsoft.com/office/drawing/2014/main" id="{5D8021F0-E852-967C-6C49-C6C6B7054503}"/>
              </a:ext>
            </a:extLst>
          </p:cNvPr>
          <p:cNvSpPr/>
          <p:nvPr/>
        </p:nvSpPr>
        <p:spPr>
          <a:xfrm>
            <a:off x="4224528" y="2606040"/>
            <a:ext cx="731520" cy="731520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5B1A0302-179A-50B8-5B08-ED303C789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2679192"/>
            <a:ext cx="585216" cy="585216"/>
          </a:xfrm>
          <a:prstGeom prst="rect">
            <a:avLst/>
          </a:prstGeom>
        </p:spPr>
      </p:pic>
      <p:sp>
        <p:nvSpPr>
          <p:cNvPr id="27" name="Shape 26">
            <a:extLst>
              <a:ext uri="{FF2B5EF4-FFF2-40B4-BE49-F238E27FC236}">
                <a16:creationId xmlns:a16="http://schemas.microsoft.com/office/drawing/2014/main" id="{9515437F-278B-E058-6E25-ABCA06F678FD}"/>
              </a:ext>
            </a:extLst>
          </p:cNvPr>
          <p:cNvSpPr/>
          <p:nvPr/>
        </p:nvSpPr>
        <p:spPr>
          <a:xfrm>
            <a:off x="7132320" y="2606040"/>
            <a:ext cx="731520" cy="731520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8" name="Image 6" descr="preencoded.png">
            <a:extLst>
              <a:ext uri="{FF2B5EF4-FFF2-40B4-BE49-F238E27FC236}">
                <a16:creationId xmlns:a16="http://schemas.microsoft.com/office/drawing/2014/main" id="{607AA04A-948B-ED83-1C66-F54235F50F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328" y="2679192"/>
            <a:ext cx="585216" cy="58521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WHY DO WE NEED EDGE COMPUTING?</a:t>
            </a:r>
            <a:endParaRPr lang="en-US" sz="2000" dirty="0">
              <a:latin typeface="Baskerville Old Face" panose="0202060208050502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7764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777240"/>
            <a:ext cx="3785616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 Cloud Computing Shortcomings</a:t>
            </a:r>
            <a:endParaRPr lang="en-US" sz="1300" dirty="0">
              <a:latin typeface="Bookman Old Style" panose="02050604050505020204" pitchFamily="18" charset="0"/>
            </a:endParaRPr>
          </a:p>
        </p:txBody>
      </p:sp>
      <p:pic>
        <p:nvPicPr>
          <p:cNvPr id="62" name="Image 0" descr="preencoded.png">
            <a:extLst>
              <a:ext uri="{FF2B5EF4-FFF2-40B4-BE49-F238E27FC236}">
                <a16:creationId xmlns:a16="http://schemas.microsoft.com/office/drawing/2014/main" id="{1760DB78-9D8E-D135-03C4-0672F3165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841248"/>
            <a:ext cx="256032" cy="256032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CEFDEBE4-EC98-DB97-77D2-3ACC12C35A6C}"/>
              </a:ext>
            </a:extLst>
          </p:cNvPr>
          <p:cNvGrpSpPr/>
          <p:nvPr/>
        </p:nvGrpSpPr>
        <p:grpSpPr>
          <a:xfrm>
            <a:off x="274320" y="1321308"/>
            <a:ext cx="3977640" cy="3255264"/>
            <a:chOff x="274320" y="1252728"/>
            <a:chExt cx="3977640" cy="3255264"/>
          </a:xfrm>
        </p:grpSpPr>
        <p:sp>
          <p:nvSpPr>
            <p:cNvPr id="68" name="Shape 4">
              <a:extLst>
                <a:ext uri="{FF2B5EF4-FFF2-40B4-BE49-F238E27FC236}">
                  <a16:creationId xmlns:a16="http://schemas.microsoft.com/office/drawing/2014/main" id="{977065DE-E599-016B-BB57-4F26CF1BC4D2}"/>
                </a:ext>
              </a:extLst>
            </p:cNvPr>
            <p:cNvSpPr/>
            <p:nvPr/>
          </p:nvSpPr>
          <p:spPr>
            <a:xfrm>
              <a:off x="274320" y="1252728"/>
              <a:ext cx="3977640" cy="73152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CA5A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</p:sp>
        <p:pic>
          <p:nvPicPr>
            <p:cNvPr id="70" name="Image 1" descr="preencoded.png">
              <a:extLst>
                <a:ext uri="{FF2B5EF4-FFF2-40B4-BE49-F238E27FC236}">
                  <a16:creationId xmlns:a16="http://schemas.microsoft.com/office/drawing/2014/main" id="{41B820B2-E155-9921-415A-62ED790D4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480" y="1339596"/>
              <a:ext cx="288036" cy="288036"/>
            </a:xfrm>
            <a:prstGeom prst="rect">
              <a:avLst/>
            </a:prstGeom>
          </p:spPr>
        </p:pic>
        <p:sp>
          <p:nvSpPr>
            <p:cNvPr id="71" name="Text 6">
              <a:extLst>
                <a:ext uri="{FF2B5EF4-FFF2-40B4-BE49-F238E27FC236}">
                  <a16:creationId xmlns:a16="http://schemas.microsoft.com/office/drawing/2014/main" id="{64B53499-82CE-95B8-3936-226555522162}"/>
                </a:ext>
              </a:extLst>
            </p:cNvPr>
            <p:cNvSpPr/>
            <p:nvPr/>
          </p:nvSpPr>
          <p:spPr>
            <a:xfrm>
              <a:off x="914400" y="1307592"/>
              <a:ext cx="3246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 Latency</a:t>
              </a:r>
              <a:endParaRPr lang="en-US" sz="1250" dirty="0"/>
            </a:p>
          </p:txBody>
        </p:sp>
        <p:sp>
          <p:nvSpPr>
            <p:cNvPr id="72" name="Text 7">
              <a:extLst>
                <a:ext uri="{FF2B5EF4-FFF2-40B4-BE49-F238E27FC236}">
                  <a16:creationId xmlns:a16="http://schemas.microsoft.com/office/drawing/2014/main" id="{4E9BDB1C-41D5-828D-4F31-EABF19D2D960}"/>
                </a:ext>
              </a:extLst>
            </p:cNvPr>
            <p:cNvSpPr/>
            <p:nvPr/>
          </p:nvSpPr>
          <p:spPr>
            <a:xfrm>
              <a:off x="914400" y="1572768"/>
              <a:ext cx="32461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50–200ms round-trip; fails real-time needs like autonomous driving</a:t>
              </a:r>
              <a:endParaRPr lang="en-US" sz="1050" dirty="0"/>
            </a:p>
          </p:txBody>
        </p:sp>
        <p:sp>
          <p:nvSpPr>
            <p:cNvPr id="73" name="Shape 8">
              <a:extLst>
                <a:ext uri="{FF2B5EF4-FFF2-40B4-BE49-F238E27FC236}">
                  <a16:creationId xmlns:a16="http://schemas.microsoft.com/office/drawing/2014/main" id="{8866EC0B-1D8E-B05E-F0CB-65459D6B4E22}"/>
                </a:ext>
              </a:extLst>
            </p:cNvPr>
            <p:cNvSpPr/>
            <p:nvPr/>
          </p:nvSpPr>
          <p:spPr>
            <a:xfrm>
              <a:off x="274320" y="2093976"/>
              <a:ext cx="3977640" cy="73152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CA5A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</p:sp>
        <p:pic>
          <p:nvPicPr>
            <p:cNvPr id="75" name="Image 2" descr="preencoded.png">
              <a:extLst>
                <a:ext uri="{FF2B5EF4-FFF2-40B4-BE49-F238E27FC236}">
                  <a16:creationId xmlns:a16="http://schemas.microsoft.com/office/drawing/2014/main" id="{428A0654-874E-3B91-B4E1-30B41B152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1480" y="2209292"/>
              <a:ext cx="293878" cy="293878"/>
            </a:xfrm>
            <a:prstGeom prst="rect">
              <a:avLst/>
            </a:prstGeom>
          </p:spPr>
        </p:pic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A406B80E-7600-6E3B-B70B-0FB5EF7084C8}"/>
                </a:ext>
              </a:extLst>
            </p:cNvPr>
            <p:cNvSpPr/>
            <p:nvPr/>
          </p:nvSpPr>
          <p:spPr>
            <a:xfrm>
              <a:off x="914400" y="2148840"/>
              <a:ext cx="3246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Privacy Risk</a:t>
              </a:r>
              <a:endParaRPr lang="en-US" sz="1250" dirty="0"/>
            </a:p>
          </p:txBody>
        </p:sp>
        <p:sp>
          <p:nvSpPr>
            <p:cNvPr id="77" name="Text 11">
              <a:extLst>
                <a:ext uri="{FF2B5EF4-FFF2-40B4-BE49-F238E27FC236}">
                  <a16:creationId xmlns:a16="http://schemas.microsoft.com/office/drawing/2014/main" id="{5B616195-E5B5-4167-B2E0-1D5B02174400}"/>
                </a:ext>
              </a:extLst>
            </p:cNvPr>
            <p:cNvSpPr/>
            <p:nvPr/>
          </p:nvSpPr>
          <p:spPr>
            <a:xfrm>
              <a:off x="914400" y="2414016"/>
              <a:ext cx="32461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Sensitive data uploaded to centralized cloud is vulnerable to breach</a:t>
              </a:r>
              <a:endParaRPr lang="en-US" sz="1050" dirty="0"/>
            </a:p>
          </p:txBody>
        </p:sp>
        <p:sp>
          <p:nvSpPr>
            <p:cNvPr id="78" name="Shape 12">
              <a:extLst>
                <a:ext uri="{FF2B5EF4-FFF2-40B4-BE49-F238E27FC236}">
                  <a16:creationId xmlns:a16="http://schemas.microsoft.com/office/drawing/2014/main" id="{1A9B4F24-CFBC-1AD3-CBE5-310119918B19}"/>
                </a:ext>
              </a:extLst>
            </p:cNvPr>
            <p:cNvSpPr/>
            <p:nvPr/>
          </p:nvSpPr>
          <p:spPr>
            <a:xfrm>
              <a:off x="274320" y="2935224"/>
              <a:ext cx="3977640" cy="73152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CA5A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</p:sp>
        <p:pic>
          <p:nvPicPr>
            <p:cNvPr id="80" name="Image 3" descr="preencoded.png">
              <a:extLst>
                <a:ext uri="{FF2B5EF4-FFF2-40B4-BE49-F238E27FC236}">
                  <a16:creationId xmlns:a16="http://schemas.microsoft.com/office/drawing/2014/main" id="{9D6058CC-C8AB-8D47-9C44-5D7F7AFEA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1480" y="3064002"/>
              <a:ext cx="288036" cy="288036"/>
            </a:xfrm>
            <a:prstGeom prst="rect">
              <a:avLst/>
            </a:prstGeom>
          </p:spPr>
        </p:pic>
        <p:sp>
          <p:nvSpPr>
            <p:cNvPr id="81" name="Text 14">
              <a:extLst>
                <a:ext uri="{FF2B5EF4-FFF2-40B4-BE49-F238E27FC236}">
                  <a16:creationId xmlns:a16="http://schemas.microsoft.com/office/drawing/2014/main" id="{3F6EF071-5DA5-7A1B-E74B-36B087AAB688}"/>
                </a:ext>
              </a:extLst>
            </p:cNvPr>
            <p:cNvSpPr/>
            <p:nvPr/>
          </p:nvSpPr>
          <p:spPr>
            <a:xfrm>
              <a:off x="914400" y="2990088"/>
              <a:ext cx="3246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Energy Drain</a:t>
              </a:r>
              <a:endParaRPr lang="en-US" sz="1250" dirty="0"/>
            </a:p>
          </p:txBody>
        </p:sp>
        <p:sp>
          <p:nvSpPr>
            <p:cNvPr id="82" name="Text 15">
              <a:extLst>
                <a:ext uri="{FF2B5EF4-FFF2-40B4-BE49-F238E27FC236}">
                  <a16:creationId xmlns:a16="http://schemas.microsoft.com/office/drawing/2014/main" id="{78A83411-5D56-4483-3047-B5A46DB47DA0}"/>
                </a:ext>
              </a:extLst>
            </p:cNvPr>
            <p:cNvSpPr/>
            <p:nvPr/>
          </p:nvSpPr>
          <p:spPr>
            <a:xfrm>
              <a:off x="914400" y="3255264"/>
              <a:ext cx="32461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Massive data center consumption cannot meet growing demands</a:t>
              </a:r>
              <a:endParaRPr lang="en-US" sz="1050" dirty="0"/>
            </a:p>
          </p:txBody>
        </p:sp>
        <p:sp>
          <p:nvSpPr>
            <p:cNvPr id="83" name="Shape 16">
              <a:extLst>
                <a:ext uri="{FF2B5EF4-FFF2-40B4-BE49-F238E27FC236}">
                  <a16:creationId xmlns:a16="http://schemas.microsoft.com/office/drawing/2014/main" id="{908AE3E1-72B0-564C-43E0-2F07162C44B3}"/>
                </a:ext>
              </a:extLst>
            </p:cNvPr>
            <p:cNvSpPr/>
            <p:nvPr/>
          </p:nvSpPr>
          <p:spPr>
            <a:xfrm>
              <a:off x="274320" y="3776472"/>
              <a:ext cx="3977640" cy="73152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CA5A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</p:sp>
        <p:pic>
          <p:nvPicPr>
            <p:cNvPr id="85" name="Image 4" descr="preencoded.png">
              <a:extLst>
                <a:ext uri="{FF2B5EF4-FFF2-40B4-BE49-F238E27FC236}">
                  <a16:creationId xmlns:a16="http://schemas.microsoft.com/office/drawing/2014/main" id="{71064EB8-A869-C9EA-CA05-B06832B2D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1480" y="3902456"/>
              <a:ext cx="293878" cy="293878"/>
            </a:xfrm>
            <a:prstGeom prst="rect">
              <a:avLst/>
            </a:prstGeom>
          </p:spPr>
        </p:pic>
        <p:sp>
          <p:nvSpPr>
            <p:cNvPr id="86" name="Text 18">
              <a:extLst>
                <a:ext uri="{FF2B5EF4-FFF2-40B4-BE49-F238E27FC236}">
                  <a16:creationId xmlns:a16="http://schemas.microsoft.com/office/drawing/2014/main" id="{C7CDA270-ACA4-3CB5-4414-8C0A04EBC510}"/>
                </a:ext>
              </a:extLst>
            </p:cNvPr>
            <p:cNvSpPr/>
            <p:nvPr/>
          </p:nvSpPr>
          <p:spPr>
            <a:xfrm>
              <a:off x="914400" y="3831336"/>
              <a:ext cx="3246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Bandwidth Saturation</a:t>
              </a:r>
              <a:endParaRPr lang="en-US" sz="1250" dirty="0"/>
            </a:p>
          </p:txBody>
        </p:sp>
        <p:sp>
          <p:nvSpPr>
            <p:cNvPr id="87" name="Text 19">
              <a:extLst>
                <a:ext uri="{FF2B5EF4-FFF2-40B4-BE49-F238E27FC236}">
                  <a16:creationId xmlns:a16="http://schemas.microsoft.com/office/drawing/2014/main" id="{543FA6F8-8148-1976-CE1B-C1DB0B923CA0}"/>
                </a:ext>
              </a:extLst>
            </p:cNvPr>
            <p:cNvSpPr/>
            <p:nvPr/>
          </p:nvSpPr>
          <p:spPr>
            <a:xfrm>
              <a:off x="914400" y="4096512"/>
              <a:ext cx="32461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HD video &amp; 4K surge overwhelms WAN backhaul</a:t>
              </a:r>
              <a:endParaRPr lang="en-US" sz="1050" dirty="0"/>
            </a:p>
          </p:txBody>
        </p:sp>
      </p:grpSp>
      <p:sp>
        <p:nvSpPr>
          <p:cNvPr id="90" name="Shape 20">
            <a:extLst>
              <a:ext uri="{FF2B5EF4-FFF2-40B4-BE49-F238E27FC236}">
                <a16:creationId xmlns:a16="http://schemas.microsoft.com/office/drawing/2014/main" id="{3B28673B-ADC8-EE9E-9012-5376934E4F5C}"/>
              </a:ext>
            </a:extLst>
          </p:cNvPr>
          <p:cNvSpPr/>
          <p:nvPr/>
        </p:nvSpPr>
        <p:spPr>
          <a:xfrm>
            <a:off x="4572000" y="804672"/>
            <a:ext cx="42291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1" name="Image 5" descr="preencoded.png">
            <a:extLst>
              <a:ext uri="{FF2B5EF4-FFF2-40B4-BE49-F238E27FC236}">
                <a16:creationId xmlns:a16="http://schemas.microsoft.com/office/drawing/2014/main" id="{C705435B-E22A-F7A3-B51D-80158B0017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841248"/>
            <a:ext cx="256032" cy="256032"/>
          </a:xfrm>
          <a:prstGeom prst="rect">
            <a:avLst/>
          </a:prstGeom>
        </p:spPr>
      </p:pic>
      <p:sp>
        <p:nvSpPr>
          <p:cNvPr id="92" name="Text 21">
            <a:extLst>
              <a:ext uri="{FF2B5EF4-FFF2-40B4-BE49-F238E27FC236}">
                <a16:creationId xmlns:a16="http://schemas.microsoft.com/office/drawing/2014/main" id="{AA3675A3-2001-4B65-D534-8970B7696917}"/>
              </a:ext>
            </a:extLst>
          </p:cNvPr>
          <p:cNvSpPr/>
          <p:nvPr/>
        </p:nvSpPr>
        <p:spPr>
          <a:xfrm>
            <a:off x="4974336" y="8229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Goals of Edge Computing</a:t>
            </a:r>
            <a:endParaRPr lang="en-US" sz="1300" dirty="0">
              <a:latin typeface="Bookman Old Style" panose="02050604050505020204" pitchFamily="18" charset="0"/>
            </a:endParaRPr>
          </a:p>
        </p:txBody>
      </p:sp>
      <p:sp>
        <p:nvSpPr>
          <p:cNvPr id="93" name="Shape 22">
            <a:extLst>
              <a:ext uri="{FF2B5EF4-FFF2-40B4-BE49-F238E27FC236}">
                <a16:creationId xmlns:a16="http://schemas.microsoft.com/office/drawing/2014/main" id="{167FC993-B492-9C29-ED0A-8586D552A0D8}"/>
              </a:ext>
            </a:extLst>
          </p:cNvPr>
          <p:cNvSpPr/>
          <p:nvPr/>
        </p:nvSpPr>
        <p:spPr>
          <a:xfrm>
            <a:off x="4572000" y="1252728"/>
            <a:ext cx="2057400" cy="1078992"/>
          </a:xfrm>
          <a:prstGeom prst="rect">
            <a:avLst/>
          </a:prstGeom>
          <a:solidFill>
            <a:srgbClr val="CCFBF1"/>
          </a:solidFill>
          <a:ln w="635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4" name="Image 6" descr="preencoded.png">
            <a:extLst>
              <a:ext uri="{FF2B5EF4-FFF2-40B4-BE49-F238E27FC236}">
                <a16:creationId xmlns:a16="http://schemas.microsoft.com/office/drawing/2014/main" id="{01B90807-F154-55CE-7134-3EB272A9A3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1362456"/>
            <a:ext cx="265176" cy="265176"/>
          </a:xfrm>
          <a:prstGeom prst="rect">
            <a:avLst/>
          </a:prstGeom>
        </p:spPr>
      </p:pic>
      <p:sp>
        <p:nvSpPr>
          <p:cNvPr id="95" name="Text 23">
            <a:extLst>
              <a:ext uri="{FF2B5EF4-FFF2-40B4-BE49-F238E27FC236}">
                <a16:creationId xmlns:a16="http://schemas.microsoft.com/office/drawing/2014/main" id="{411602A7-6400-050B-D423-F9D5D7A7A06F}"/>
              </a:ext>
            </a:extLst>
          </p:cNvPr>
          <p:cNvSpPr/>
          <p:nvPr/>
        </p:nvSpPr>
        <p:spPr>
          <a:xfrm>
            <a:off x="5120640" y="1344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Lower Latency</a:t>
            </a:r>
            <a:endParaRPr lang="en-US" sz="1150" dirty="0">
              <a:latin typeface="Bookman Old Style" panose="02050604050505020204" pitchFamily="18" charset="0"/>
            </a:endParaRPr>
          </a:p>
        </p:txBody>
      </p:sp>
      <p:sp>
        <p:nvSpPr>
          <p:cNvPr id="96" name="Text 24">
            <a:extLst>
              <a:ext uri="{FF2B5EF4-FFF2-40B4-BE49-F238E27FC236}">
                <a16:creationId xmlns:a16="http://schemas.microsoft.com/office/drawing/2014/main" id="{4953F955-2591-D10E-C68D-54959DC37929}"/>
              </a:ext>
            </a:extLst>
          </p:cNvPr>
          <p:cNvSpPr/>
          <p:nvPr/>
        </p:nvSpPr>
        <p:spPr>
          <a:xfrm>
            <a:off x="4681728" y="17099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Compute at or near the data source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97" name="Shape 25">
            <a:extLst>
              <a:ext uri="{FF2B5EF4-FFF2-40B4-BE49-F238E27FC236}">
                <a16:creationId xmlns:a16="http://schemas.microsoft.com/office/drawing/2014/main" id="{583C83B3-0475-DE6F-22A5-418C5AF82D30}"/>
              </a:ext>
            </a:extLst>
          </p:cNvPr>
          <p:cNvSpPr/>
          <p:nvPr/>
        </p:nvSpPr>
        <p:spPr>
          <a:xfrm>
            <a:off x="6748272" y="1252728"/>
            <a:ext cx="2057400" cy="1078992"/>
          </a:xfrm>
          <a:prstGeom prst="rect">
            <a:avLst/>
          </a:prstGeom>
          <a:solidFill>
            <a:srgbClr val="CCFBF1"/>
          </a:solidFill>
          <a:ln w="635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8" name="Image 7" descr="preencoded.png">
            <a:extLst>
              <a:ext uri="{FF2B5EF4-FFF2-40B4-BE49-F238E27FC236}">
                <a16:creationId xmlns:a16="http://schemas.microsoft.com/office/drawing/2014/main" id="{672DA8D8-BD89-E41E-A2BE-2C26D13077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0" y="1362456"/>
            <a:ext cx="292608" cy="292608"/>
          </a:xfrm>
          <a:prstGeom prst="rect">
            <a:avLst/>
          </a:prstGeom>
        </p:spPr>
      </p:pic>
      <p:sp>
        <p:nvSpPr>
          <p:cNvPr id="99" name="Text 26">
            <a:extLst>
              <a:ext uri="{FF2B5EF4-FFF2-40B4-BE49-F238E27FC236}">
                <a16:creationId xmlns:a16="http://schemas.microsoft.com/office/drawing/2014/main" id="{EC503882-BD88-74C3-2128-E6634B5353AC}"/>
              </a:ext>
            </a:extLst>
          </p:cNvPr>
          <p:cNvSpPr/>
          <p:nvPr/>
        </p:nvSpPr>
        <p:spPr>
          <a:xfrm>
            <a:off x="7296912" y="1344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Reduce Cost</a:t>
            </a:r>
            <a:endParaRPr lang="en-US" sz="1150" dirty="0">
              <a:latin typeface="Bookman Old Style" panose="02050604050505020204" pitchFamily="18" charset="0"/>
            </a:endParaRPr>
          </a:p>
        </p:txBody>
      </p:sp>
      <p:sp>
        <p:nvSpPr>
          <p:cNvPr id="100" name="Text 27">
            <a:extLst>
              <a:ext uri="{FF2B5EF4-FFF2-40B4-BE49-F238E27FC236}">
                <a16:creationId xmlns:a16="http://schemas.microsoft.com/office/drawing/2014/main" id="{C5E94592-1C02-7738-CCF5-C4DF811FC2D3}"/>
              </a:ext>
            </a:extLst>
          </p:cNvPr>
          <p:cNvSpPr/>
          <p:nvPr/>
        </p:nvSpPr>
        <p:spPr>
          <a:xfrm>
            <a:off x="6858000" y="17099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Filter &amp; aggregate locally before transmission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101" name="Shape 28">
            <a:extLst>
              <a:ext uri="{FF2B5EF4-FFF2-40B4-BE49-F238E27FC236}">
                <a16:creationId xmlns:a16="http://schemas.microsoft.com/office/drawing/2014/main" id="{9C32CFB4-F883-3BBC-2A2D-F421F5A5321D}"/>
              </a:ext>
            </a:extLst>
          </p:cNvPr>
          <p:cNvSpPr/>
          <p:nvPr/>
        </p:nvSpPr>
        <p:spPr>
          <a:xfrm>
            <a:off x="4572000" y="2441448"/>
            <a:ext cx="2057400" cy="1078992"/>
          </a:xfrm>
          <a:prstGeom prst="rect">
            <a:avLst/>
          </a:prstGeom>
          <a:solidFill>
            <a:srgbClr val="CCFBF1"/>
          </a:solidFill>
          <a:ln w="635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2" name="Image 8" descr="preencoded.png">
            <a:extLst>
              <a:ext uri="{FF2B5EF4-FFF2-40B4-BE49-F238E27FC236}">
                <a16:creationId xmlns:a16="http://schemas.microsoft.com/office/drawing/2014/main" id="{2B03687C-6DBA-0413-657E-E74F9008AC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884" y="2551176"/>
            <a:ext cx="278892" cy="278892"/>
          </a:xfrm>
          <a:prstGeom prst="rect">
            <a:avLst/>
          </a:prstGeom>
        </p:spPr>
      </p:pic>
      <p:sp>
        <p:nvSpPr>
          <p:cNvPr id="103" name="Text 29">
            <a:extLst>
              <a:ext uri="{FF2B5EF4-FFF2-40B4-BE49-F238E27FC236}">
                <a16:creationId xmlns:a16="http://schemas.microsoft.com/office/drawing/2014/main" id="{279324C9-7AC3-01C4-4E20-8486F1343DBF}"/>
              </a:ext>
            </a:extLst>
          </p:cNvPr>
          <p:cNvSpPr/>
          <p:nvPr/>
        </p:nvSpPr>
        <p:spPr>
          <a:xfrm>
            <a:off x="5120640" y="25328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Bridge Networks</a:t>
            </a:r>
            <a:endParaRPr lang="en-US" sz="1150" dirty="0">
              <a:latin typeface="Bookman Old Style" panose="02050604050505020204" pitchFamily="18" charset="0"/>
            </a:endParaRPr>
          </a:p>
        </p:txBody>
      </p:sp>
      <p:sp>
        <p:nvSpPr>
          <p:cNvPr id="104" name="Text 30">
            <a:extLst>
              <a:ext uri="{FF2B5EF4-FFF2-40B4-BE49-F238E27FC236}">
                <a16:creationId xmlns:a16="http://schemas.microsoft.com/office/drawing/2014/main" id="{BF14B7FC-A2B1-84F4-F961-AE6D82E59AA7}"/>
              </a:ext>
            </a:extLst>
          </p:cNvPr>
          <p:cNvSpPr/>
          <p:nvPr/>
        </p:nvSpPr>
        <p:spPr>
          <a:xfrm>
            <a:off x="4681728" y="28986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Connect sensors to IP-capable networks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105" name="Shape 31">
            <a:extLst>
              <a:ext uri="{FF2B5EF4-FFF2-40B4-BE49-F238E27FC236}">
                <a16:creationId xmlns:a16="http://schemas.microsoft.com/office/drawing/2014/main" id="{DD958972-6EF9-3A58-1DF5-1A80D69D1BFC}"/>
              </a:ext>
            </a:extLst>
          </p:cNvPr>
          <p:cNvSpPr/>
          <p:nvPr/>
        </p:nvSpPr>
        <p:spPr>
          <a:xfrm>
            <a:off x="6748272" y="2441448"/>
            <a:ext cx="2057400" cy="1078992"/>
          </a:xfrm>
          <a:prstGeom prst="rect">
            <a:avLst/>
          </a:prstGeom>
          <a:solidFill>
            <a:srgbClr val="CCFBF1"/>
          </a:solidFill>
          <a:ln w="635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6" name="Image 9" descr="preencoded.png">
            <a:extLst>
              <a:ext uri="{FF2B5EF4-FFF2-40B4-BE49-F238E27FC236}">
                <a16:creationId xmlns:a16="http://schemas.microsoft.com/office/drawing/2014/main" id="{09664CC8-5C7A-AC3D-525B-892137DF30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0" y="2551176"/>
            <a:ext cx="292608" cy="292608"/>
          </a:xfrm>
          <a:prstGeom prst="rect">
            <a:avLst/>
          </a:prstGeom>
        </p:spPr>
      </p:pic>
      <p:sp>
        <p:nvSpPr>
          <p:cNvPr id="107" name="Text 32">
            <a:extLst>
              <a:ext uri="{FF2B5EF4-FFF2-40B4-BE49-F238E27FC236}">
                <a16:creationId xmlns:a16="http://schemas.microsoft.com/office/drawing/2014/main" id="{AB25ACBE-F341-9429-C74C-ACA805E652FC}"/>
              </a:ext>
            </a:extLst>
          </p:cNvPr>
          <p:cNvSpPr/>
          <p:nvPr/>
        </p:nvSpPr>
        <p:spPr>
          <a:xfrm>
            <a:off x="7296912" y="25328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Enhance Reliability</a:t>
            </a:r>
            <a:endParaRPr lang="en-US" sz="1150" dirty="0">
              <a:latin typeface="Bookman Old Style" panose="02050604050505020204" pitchFamily="18" charset="0"/>
            </a:endParaRPr>
          </a:p>
        </p:txBody>
      </p:sp>
      <p:sp>
        <p:nvSpPr>
          <p:cNvPr id="108" name="Text 33">
            <a:extLst>
              <a:ext uri="{FF2B5EF4-FFF2-40B4-BE49-F238E27FC236}">
                <a16:creationId xmlns:a16="http://schemas.microsoft.com/office/drawing/2014/main" id="{8679742F-8DC9-0043-DADB-C365109342CD}"/>
              </a:ext>
            </a:extLst>
          </p:cNvPr>
          <p:cNvSpPr/>
          <p:nvPr/>
        </p:nvSpPr>
        <p:spPr>
          <a:xfrm>
            <a:off x="6858000" y="28986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Resilient computing for remote &amp; mobile devices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109" name="Shape 34">
            <a:extLst>
              <a:ext uri="{FF2B5EF4-FFF2-40B4-BE49-F238E27FC236}">
                <a16:creationId xmlns:a16="http://schemas.microsoft.com/office/drawing/2014/main" id="{57BC0A23-F284-C476-62FB-862AB3A89C3B}"/>
              </a:ext>
            </a:extLst>
          </p:cNvPr>
          <p:cNvSpPr/>
          <p:nvPr/>
        </p:nvSpPr>
        <p:spPr>
          <a:xfrm>
            <a:off x="4572000" y="3630168"/>
            <a:ext cx="2057400" cy="1078992"/>
          </a:xfrm>
          <a:prstGeom prst="rect">
            <a:avLst/>
          </a:prstGeom>
          <a:solidFill>
            <a:srgbClr val="CCFBF1"/>
          </a:solidFill>
          <a:ln w="635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0" name="Image 10" descr="preencoded.png">
            <a:extLst>
              <a:ext uri="{FF2B5EF4-FFF2-40B4-BE49-F238E27FC236}">
                <a16:creationId xmlns:a16="http://schemas.microsoft.com/office/drawing/2014/main" id="{97980586-EFF7-0A1D-2DF0-AFEDB0C1CF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884" y="3739896"/>
            <a:ext cx="278892" cy="278892"/>
          </a:xfrm>
          <a:prstGeom prst="rect">
            <a:avLst/>
          </a:prstGeom>
        </p:spPr>
      </p:pic>
      <p:sp>
        <p:nvSpPr>
          <p:cNvPr id="111" name="Text 35">
            <a:extLst>
              <a:ext uri="{FF2B5EF4-FFF2-40B4-BE49-F238E27FC236}">
                <a16:creationId xmlns:a16="http://schemas.microsoft.com/office/drawing/2014/main" id="{24DBBA34-F48E-2DA6-6AED-A1F6BB7665BF}"/>
              </a:ext>
            </a:extLst>
          </p:cNvPr>
          <p:cNvSpPr/>
          <p:nvPr/>
        </p:nvSpPr>
        <p:spPr>
          <a:xfrm>
            <a:off x="5120640" y="3721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Enhance Security</a:t>
            </a:r>
            <a:endParaRPr lang="en-US" sz="1150" dirty="0">
              <a:latin typeface="Bookman Old Style" panose="02050604050505020204" pitchFamily="18" charset="0"/>
            </a:endParaRPr>
          </a:p>
        </p:txBody>
      </p:sp>
      <p:sp>
        <p:nvSpPr>
          <p:cNvPr id="112" name="Text 36">
            <a:extLst>
              <a:ext uri="{FF2B5EF4-FFF2-40B4-BE49-F238E27FC236}">
                <a16:creationId xmlns:a16="http://schemas.microsoft.com/office/drawing/2014/main" id="{87BCAE28-33FD-DF4F-A988-D8339384FC39}"/>
              </a:ext>
            </a:extLst>
          </p:cNvPr>
          <p:cNvSpPr/>
          <p:nvPr/>
        </p:nvSpPr>
        <p:spPr>
          <a:xfrm>
            <a:off x="4681728" y="40873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Anonymize &amp; scrub data locally before cloud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113" name="Shape 37">
            <a:extLst>
              <a:ext uri="{FF2B5EF4-FFF2-40B4-BE49-F238E27FC236}">
                <a16:creationId xmlns:a16="http://schemas.microsoft.com/office/drawing/2014/main" id="{16F23877-60AA-D82B-55AE-796FFCAD707D}"/>
              </a:ext>
            </a:extLst>
          </p:cNvPr>
          <p:cNvSpPr/>
          <p:nvPr/>
        </p:nvSpPr>
        <p:spPr>
          <a:xfrm>
            <a:off x="6748272" y="3630168"/>
            <a:ext cx="2057400" cy="1078992"/>
          </a:xfrm>
          <a:prstGeom prst="rect">
            <a:avLst/>
          </a:prstGeom>
          <a:solidFill>
            <a:srgbClr val="CCFBF1"/>
          </a:solidFill>
          <a:ln w="635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4" name="Image 11" descr="preencoded.png">
            <a:extLst>
              <a:ext uri="{FF2B5EF4-FFF2-40B4-BE49-F238E27FC236}">
                <a16:creationId xmlns:a16="http://schemas.microsoft.com/office/drawing/2014/main" id="{F4A4850F-1625-3739-4057-A059F47110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9440" y="3739896"/>
            <a:ext cx="292608" cy="292608"/>
          </a:xfrm>
          <a:prstGeom prst="rect">
            <a:avLst/>
          </a:prstGeom>
        </p:spPr>
      </p:pic>
      <p:sp>
        <p:nvSpPr>
          <p:cNvPr id="115" name="Text 38">
            <a:extLst>
              <a:ext uri="{FF2B5EF4-FFF2-40B4-BE49-F238E27FC236}">
                <a16:creationId xmlns:a16="http://schemas.microsoft.com/office/drawing/2014/main" id="{98C5F02D-31E1-6667-3ED0-0E80EDB0E0DC}"/>
              </a:ext>
            </a:extLst>
          </p:cNvPr>
          <p:cNvSpPr/>
          <p:nvPr/>
        </p:nvSpPr>
        <p:spPr>
          <a:xfrm>
            <a:off x="7296912" y="3721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Extend the Cloud</a:t>
            </a:r>
            <a:endParaRPr lang="en-US" sz="1150" dirty="0">
              <a:latin typeface="Bookman Old Style" panose="02050604050505020204" pitchFamily="18" charset="0"/>
            </a:endParaRPr>
          </a:p>
        </p:txBody>
      </p:sp>
      <p:sp>
        <p:nvSpPr>
          <p:cNvPr id="116" name="Text 39">
            <a:extLst>
              <a:ext uri="{FF2B5EF4-FFF2-40B4-BE49-F238E27FC236}">
                <a16:creationId xmlns:a16="http://schemas.microsoft.com/office/drawing/2014/main" id="{CE6C32E3-7B16-48BF-4020-82E98A47E006}"/>
              </a:ext>
            </a:extLst>
          </p:cNvPr>
          <p:cNvSpPr/>
          <p:nvPr/>
        </p:nvSpPr>
        <p:spPr>
          <a:xfrm>
            <a:off x="6858000" y="40873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Autonomous edge nodes as cloud extensions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2" grpId="0" animBg="1"/>
      <p:bldP spid="95" grpId="0" animBg="1"/>
      <p:bldP spid="96" grpId="0" animBg="1"/>
      <p:bldP spid="99" grpId="0" animBg="1"/>
      <p:bldP spid="100" grpId="0" animBg="1"/>
      <p:bldP spid="103" grpId="0" animBg="1"/>
      <p:bldP spid="104" grpId="0" animBg="1"/>
      <p:bldP spid="107" grpId="0" animBg="1"/>
      <p:bldP spid="108" grpId="0" animBg="1"/>
      <p:bldP spid="111" grpId="0" animBg="1"/>
      <p:bldP spid="112" grpId="0" animBg="1"/>
      <p:bldP spid="115" grpId="0" animBg="1"/>
      <p:bldP spid="1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THREE-TIER ARCHITECTURE</a:t>
            </a:r>
            <a:endParaRPr lang="en-US" sz="2000" dirty="0">
              <a:latin typeface="Baskerville Old Face" panose="0202060208050502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433411" cy="1234440"/>
          </a:xfrm>
          <a:prstGeom prst="rect">
            <a:avLst/>
          </a:prstGeom>
          <a:solidFill>
            <a:srgbClr val="D6EAF8"/>
          </a:solidFill>
          <a:ln w="19050">
            <a:solidFill>
              <a:srgbClr val="1B4F72"/>
            </a:solidFill>
            <a:prstDash val="solid"/>
          </a:ln>
        </p:spPr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9ADB367-80A3-B68D-0DF2-BCD4C4E05947}"/>
              </a:ext>
            </a:extLst>
          </p:cNvPr>
          <p:cNvGrpSpPr/>
          <p:nvPr/>
        </p:nvGrpSpPr>
        <p:grpSpPr>
          <a:xfrm>
            <a:off x="274320" y="827532"/>
            <a:ext cx="1268731" cy="1234440"/>
            <a:chOff x="274320" y="827532"/>
            <a:chExt cx="1645920" cy="1234440"/>
          </a:xfrm>
        </p:grpSpPr>
        <p:sp>
          <p:nvSpPr>
            <p:cNvPr id="5" name="Shape 3"/>
            <p:cNvSpPr/>
            <p:nvPr/>
          </p:nvSpPr>
          <p:spPr>
            <a:xfrm>
              <a:off x="274320" y="827532"/>
              <a:ext cx="1645920" cy="1234440"/>
            </a:xfrm>
            <a:prstGeom prst="rect">
              <a:avLst/>
            </a:prstGeom>
            <a:solidFill>
              <a:srgbClr val="1B4F72"/>
            </a:solidFill>
            <a:ln w="12700">
              <a:solidFill>
                <a:srgbClr val="1B4F72"/>
              </a:solidFill>
              <a:prstDash val="solid"/>
            </a:ln>
          </p:spPr>
          <p:txBody>
            <a:bodyPr/>
            <a:lstStyle/>
            <a:p>
              <a:endParaRPr lang="en-US" sz="1000" dirty="0">
                <a:latin typeface="Bookman Old Style" panose="02050604050505020204" pitchFamily="18" charset="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274320" y="1188720"/>
              <a:ext cx="164592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Bookman Old Style" panose="02050604050505020204" pitchFamily="18" charset="0"/>
                  <a:ea typeface="Calibri" pitchFamily="34" charset="-122"/>
                  <a:cs typeface="Calibri" pitchFamily="34" charset="-120"/>
                </a:rPr>
                <a:t>CLOUD LAYER</a:t>
              </a:r>
              <a:endParaRPr lang="en-US" sz="1000" dirty="0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E880A89-BCBC-992F-F6F9-055177C8CA90}"/>
              </a:ext>
            </a:extLst>
          </p:cNvPr>
          <p:cNvGrpSpPr/>
          <p:nvPr/>
        </p:nvGrpSpPr>
        <p:grpSpPr>
          <a:xfrm>
            <a:off x="1624483" y="932688"/>
            <a:ext cx="2826068" cy="1024128"/>
            <a:chOff x="2103120" y="932688"/>
            <a:chExt cx="2826068" cy="1024128"/>
          </a:xfrm>
        </p:grpSpPr>
        <p:sp>
          <p:nvSpPr>
            <p:cNvPr id="7" name="Text 5"/>
            <p:cNvSpPr/>
            <p:nvPr/>
          </p:nvSpPr>
          <p:spPr>
            <a:xfrm>
              <a:off x="2103120" y="932688"/>
              <a:ext cx="264033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Bookman Old Style" panose="02050604050505020204" pitchFamily="18" charset="0"/>
                  <a:ea typeface="Calibri" pitchFamily="34" charset="-122"/>
                  <a:cs typeface="Calibri" pitchFamily="34" charset="-120"/>
                </a:rPr>
                <a:t>▸  Large-scale data storage &amp; analytics</a:t>
              </a:r>
              <a:endParaRPr lang="en-US" sz="900" dirty="0">
                <a:latin typeface="Bookman Old Style" panose="02050604050505020204" pitchFamily="18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2103120" y="1188720"/>
              <a:ext cx="27117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Bookman Old Style" panose="02050604050505020204" pitchFamily="18" charset="0"/>
                  <a:ea typeface="Calibri" pitchFamily="34" charset="-122"/>
                  <a:cs typeface="Calibri" pitchFamily="34" charset="-120"/>
                </a:rPr>
                <a:t>▸  Long-term processing</a:t>
              </a:r>
              <a:endParaRPr lang="en-US" sz="900" dirty="0">
                <a:latin typeface="Bookman Old Style" panose="02050604050505020204" pitchFamily="18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2103120" y="1444752"/>
              <a:ext cx="27117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Bookman Old Style" panose="02050604050505020204" pitchFamily="18" charset="0"/>
                  <a:ea typeface="Calibri" pitchFamily="34" charset="-122"/>
                  <a:cs typeface="Calibri" pitchFamily="34" charset="-120"/>
                </a:rPr>
                <a:t>▸  Global system coordination</a:t>
              </a:r>
              <a:endParaRPr lang="en-US" sz="900" dirty="0">
                <a:latin typeface="Bookman Old Style" panose="02050604050505020204" pitchFamily="18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2103120" y="1700784"/>
              <a:ext cx="28260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Bookman Old Style" panose="02050604050505020204" pitchFamily="18" charset="0"/>
                  <a:ea typeface="Calibri" pitchFamily="34" charset="-122"/>
                  <a:cs typeface="Calibri" pitchFamily="34" charset="-120"/>
                </a:rPr>
                <a:t>▸  Model retraining &amp; deep analytics</a:t>
              </a:r>
              <a:endParaRPr lang="en-US" sz="900" dirty="0">
                <a:latin typeface="Bookman Old Style" panose="02050604050505020204" pitchFamily="18" charset="0"/>
              </a:endParaRPr>
            </a:p>
          </p:txBody>
        </p:sp>
      </p:grpSp>
      <p:sp>
        <p:nvSpPr>
          <p:cNvPr id="11" name="Shape 9"/>
          <p:cNvSpPr/>
          <p:nvPr/>
        </p:nvSpPr>
        <p:spPr>
          <a:xfrm>
            <a:off x="274320" y="2194560"/>
            <a:ext cx="4433411" cy="1234440"/>
          </a:xfrm>
          <a:prstGeom prst="rect">
            <a:avLst/>
          </a:prstGeom>
          <a:solidFill>
            <a:srgbClr val="CFFAFE"/>
          </a:solidFill>
          <a:ln w="19050">
            <a:solidFill>
              <a:srgbClr val="0E7490"/>
            </a:solidFill>
            <a:prstDash val="solid"/>
          </a:ln>
        </p:spPr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A4B67D6-4664-61B5-044A-61B6BE513FB1}"/>
              </a:ext>
            </a:extLst>
          </p:cNvPr>
          <p:cNvGrpSpPr/>
          <p:nvPr/>
        </p:nvGrpSpPr>
        <p:grpSpPr>
          <a:xfrm>
            <a:off x="274320" y="2194560"/>
            <a:ext cx="1268731" cy="1234440"/>
            <a:chOff x="274320" y="2194560"/>
            <a:chExt cx="1645920" cy="1234440"/>
          </a:xfrm>
        </p:grpSpPr>
        <p:sp>
          <p:nvSpPr>
            <p:cNvPr id="12" name="Shape 10"/>
            <p:cNvSpPr/>
            <p:nvPr/>
          </p:nvSpPr>
          <p:spPr>
            <a:xfrm>
              <a:off x="274320" y="2194560"/>
              <a:ext cx="1645920" cy="1234440"/>
            </a:xfrm>
            <a:prstGeom prst="rect">
              <a:avLst/>
            </a:prstGeom>
            <a:solidFill>
              <a:srgbClr val="0E7490"/>
            </a:solidFill>
            <a:ln w="12700">
              <a:solidFill>
                <a:srgbClr val="0E7490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274320" y="2194560"/>
              <a:ext cx="1645920" cy="1234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Bookman Old Style" panose="02050604050505020204" pitchFamily="18" charset="0"/>
                  <a:ea typeface="Calibri" pitchFamily="34" charset="-122"/>
                  <a:cs typeface="Calibri" pitchFamily="34" charset="-120"/>
                </a:rPr>
                <a:t>EDGE LAYER</a:t>
              </a:r>
              <a:endParaRPr lang="en-US" sz="1000" dirty="0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BD4E8E0-90F0-B256-7C5D-CB246EC849C7}"/>
              </a:ext>
            </a:extLst>
          </p:cNvPr>
          <p:cNvGrpSpPr/>
          <p:nvPr/>
        </p:nvGrpSpPr>
        <p:grpSpPr>
          <a:xfrm>
            <a:off x="1624483" y="2304288"/>
            <a:ext cx="3347566" cy="1024128"/>
            <a:chOff x="1560190" y="2304288"/>
            <a:chExt cx="6619400" cy="1024128"/>
          </a:xfrm>
        </p:grpSpPr>
        <p:sp>
          <p:nvSpPr>
            <p:cNvPr id="14" name="Text 12"/>
            <p:cNvSpPr/>
            <p:nvPr/>
          </p:nvSpPr>
          <p:spPr>
            <a:xfrm>
              <a:off x="1560190" y="2304288"/>
              <a:ext cx="6583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Bookman Old Style" panose="02050604050505020204" pitchFamily="18" charset="0"/>
                  <a:ea typeface="Calibri" pitchFamily="34" charset="-122"/>
                  <a:cs typeface="Calibri" pitchFamily="34" charset="-120"/>
                </a:rPr>
                <a:t>▸  Edge servers, micro data centers, IoT gateways</a:t>
              </a:r>
              <a:endParaRPr lang="en-US" sz="900" dirty="0">
                <a:latin typeface="Bookman Old Style" panose="02050604050505020204" pitchFamily="18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1560190" y="2560320"/>
              <a:ext cx="6583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Bookman Old Style" panose="02050604050505020204" pitchFamily="18" charset="0"/>
                  <a:ea typeface="Calibri" pitchFamily="34" charset="-122"/>
                  <a:cs typeface="Calibri" pitchFamily="34" charset="-120"/>
                </a:rPr>
                <a:t>▸  Real-time data filtering &amp; aggregation</a:t>
              </a:r>
              <a:endParaRPr lang="en-US" sz="900" dirty="0">
                <a:latin typeface="Bookman Old Style" panose="02050604050505020204" pitchFamily="18" charset="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1567338" y="2816352"/>
              <a:ext cx="6583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Bookman Old Style" panose="02050604050505020204" pitchFamily="18" charset="0"/>
                  <a:ea typeface="Calibri" pitchFamily="34" charset="-122"/>
                  <a:cs typeface="Calibri" pitchFamily="34" charset="-120"/>
                </a:rPr>
                <a:t>▸  AI inference with GPUs/FPGAs/NPUs</a:t>
              </a:r>
              <a:endParaRPr lang="en-US" sz="900" dirty="0">
                <a:latin typeface="Bookman Old Style" panose="02050604050505020204" pitchFamily="18" charset="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1595910" y="3072384"/>
              <a:ext cx="6583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Bookman Old Style" panose="02050604050505020204" pitchFamily="18" charset="0"/>
                  <a:ea typeface="Calibri" pitchFamily="34" charset="-122"/>
                  <a:cs typeface="Calibri" pitchFamily="34" charset="-120"/>
                </a:rPr>
                <a:t>▸  5G / 4G / Fiber local networks</a:t>
              </a:r>
              <a:endParaRPr lang="en-US" sz="900" dirty="0">
                <a:latin typeface="Bookman Old Style" panose="02050604050505020204" pitchFamily="18" charset="0"/>
              </a:endParaRPr>
            </a:p>
          </p:txBody>
        </p:sp>
      </p:grpSp>
      <p:sp>
        <p:nvSpPr>
          <p:cNvPr id="18" name="Shape 16"/>
          <p:cNvSpPr/>
          <p:nvPr/>
        </p:nvSpPr>
        <p:spPr>
          <a:xfrm>
            <a:off x="274320" y="3566160"/>
            <a:ext cx="4433411" cy="1234440"/>
          </a:xfrm>
          <a:prstGeom prst="rect">
            <a:avLst/>
          </a:prstGeom>
          <a:solidFill>
            <a:srgbClr val="E0F2FE"/>
          </a:solidFill>
          <a:ln w="19050">
            <a:solidFill>
              <a:srgbClr val="0369A1"/>
            </a:solidFill>
            <a:prstDash val="solid"/>
          </a:ln>
        </p:spPr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F13A06D-5B23-EFA5-B4D4-1C6A3376683B}"/>
              </a:ext>
            </a:extLst>
          </p:cNvPr>
          <p:cNvGrpSpPr/>
          <p:nvPr/>
        </p:nvGrpSpPr>
        <p:grpSpPr>
          <a:xfrm>
            <a:off x="274320" y="3566160"/>
            <a:ext cx="1268731" cy="1234440"/>
            <a:chOff x="274320" y="3566160"/>
            <a:chExt cx="1645920" cy="1234440"/>
          </a:xfrm>
        </p:grpSpPr>
        <p:sp>
          <p:nvSpPr>
            <p:cNvPr id="19" name="Shape 17"/>
            <p:cNvSpPr/>
            <p:nvPr/>
          </p:nvSpPr>
          <p:spPr>
            <a:xfrm>
              <a:off x="274320" y="3566160"/>
              <a:ext cx="1645920" cy="1234440"/>
            </a:xfrm>
            <a:prstGeom prst="rect">
              <a:avLst/>
            </a:prstGeom>
            <a:solidFill>
              <a:srgbClr val="0369A1"/>
            </a:solidFill>
            <a:ln w="12700">
              <a:solidFill>
                <a:srgbClr val="0369A1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274320" y="3566160"/>
              <a:ext cx="1645920" cy="1234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Bookman Old Style" panose="02050604050505020204" pitchFamily="18" charset="0"/>
                  <a:ea typeface="Calibri" pitchFamily="34" charset="-122"/>
                  <a:cs typeface="Calibri" pitchFamily="34" charset="-120"/>
                </a:rPr>
                <a:t>DEVICE LAYER</a:t>
              </a:r>
              <a:endParaRPr lang="en-US" sz="1000" dirty="0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E286814-3567-91AE-BB40-A8A645825239}"/>
              </a:ext>
            </a:extLst>
          </p:cNvPr>
          <p:cNvGrpSpPr/>
          <p:nvPr/>
        </p:nvGrpSpPr>
        <p:grpSpPr>
          <a:xfrm>
            <a:off x="1628098" y="3685032"/>
            <a:ext cx="2918937" cy="1024128"/>
            <a:chOff x="2103120" y="3675888"/>
            <a:chExt cx="6583680" cy="1024128"/>
          </a:xfrm>
        </p:grpSpPr>
        <p:sp>
          <p:nvSpPr>
            <p:cNvPr id="21" name="Text 19"/>
            <p:cNvSpPr/>
            <p:nvPr/>
          </p:nvSpPr>
          <p:spPr>
            <a:xfrm>
              <a:off x="2103120" y="3675888"/>
              <a:ext cx="6583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Bookman Old Style" panose="02050604050505020204" pitchFamily="18" charset="0"/>
                  <a:ea typeface="Calibri" pitchFamily="34" charset="-122"/>
                  <a:cs typeface="Calibri" pitchFamily="34" charset="-120"/>
                </a:rPr>
                <a:t>▸  Smartphones, sensors, cameras, vehicles</a:t>
              </a:r>
              <a:endParaRPr lang="en-US" sz="900" dirty="0">
                <a:latin typeface="Bookman Old Style" panose="02050604050505020204" pitchFamily="18" charset="0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2103120" y="3931920"/>
              <a:ext cx="6583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Bookman Old Style" panose="02050604050505020204" pitchFamily="18" charset="0"/>
                  <a:ea typeface="Calibri" pitchFamily="34" charset="-122"/>
                  <a:cs typeface="Calibri" pitchFamily="34" charset="-120"/>
                </a:rPr>
                <a:t>▸  Continuous raw data generation</a:t>
              </a:r>
              <a:endParaRPr lang="en-US" sz="900" dirty="0">
                <a:latin typeface="Bookman Old Style" panose="02050604050505020204" pitchFamily="18" charset="0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2103120" y="4187952"/>
              <a:ext cx="6583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Bookman Old Style" panose="02050604050505020204" pitchFamily="18" charset="0"/>
                  <a:ea typeface="Calibri" pitchFamily="34" charset="-122"/>
                  <a:cs typeface="Calibri" pitchFamily="34" charset="-120"/>
                </a:rPr>
                <a:t>▸  Both data consumer and data provider</a:t>
              </a:r>
              <a:endParaRPr lang="en-US" sz="900" dirty="0">
                <a:latin typeface="Bookman Old Style" panose="02050604050505020204" pitchFamily="18" charset="0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2103120" y="4443984"/>
              <a:ext cx="6583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Bookman Old Style" panose="02050604050505020204" pitchFamily="18" charset="0"/>
                  <a:ea typeface="Calibri" pitchFamily="34" charset="-122"/>
                  <a:cs typeface="Calibri" pitchFamily="34" charset="-120"/>
                </a:rPr>
                <a:t>▸  Communication via BT / RF / NFC</a:t>
              </a:r>
              <a:endParaRPr lang="en-US" sz="900" dirty="0">
                <a:latin typeface="Bookman Old Style" panose="02050604050505020204" pitchFamily="18" charset="0"/>
              </a:endParaRP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66B6D19E-D42C-1127-7A06-A73D4FF6CB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11" r="4949"/>
          <a:stretch>
            <a:fillRect/>
          </a:stretch>
        </p:blipFill>
        <p:spPr>
          <a:xfrm>
            <a:off x="4875404" y="1245200"/>
            <a:ext cx="4107140" cy="28862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HOW EDGE COMPUTING WORKS</a:t>
            </a:r>
            <a:endParaRPr lang="en-US" sz="2000" dirty="0">
              <a:latin typeface="Baskerville Old Face" panose="0202060208050502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764792" y="1463040"/>
            <a:ext cx="18288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04672"/>
            <a:ext cx="1554480" cy="4069080"/>
          </a:xfrm>
          <a:prstGeom prst="rect">
            <a:avLst/>
          </a:prstGeom>
          <a:solidFill>
            <a:srgbClr val="F0F8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804672"/>
            <a:ext cx="155448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8046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>
              <a:latin typeface="Bookman Old Style" panose="0205060405050502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82880" y="1325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>
              <a:latin typeface="Bookman Old Style" panose="0205060405050502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74320" y="22814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4F72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Data Generation</a:t>
            </a:r>
            <a:endParaRPr lang="en-US" sz="1150" dirty="0">
              <a:latin typeface="Bookman Old Style" panose="0205060405050502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68880"/>
            <a:ext cx="1371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IoT devices: sensors, cameras, vehicles generate raw data continuously</a:t>
            </a:r>
            <a:endParaRPr lang="en-US" sz="1050" dirty="0">
              <a:latin typeface="Bookman Old Style" panose="020506040505050202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529584" y="1463040"/>
            <a:ext cx="18288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47672" y="804672"/>
            <a:ext cx="1554480" cy="4069080"/>
          </a:xfrm>
          <a:prstGeom prst="rect">
            <a:avLst/>
          </a:prstGeom>
          <a:solidFill>
            <a:srgbClr val="F0F8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47672" y="804672"/>
            <a:ext cx="155448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47672" y="8046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>
              <a:latin typeface="Bookman Old Style" panose="0205060405050502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947672" y="1325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>
              <a:latin typeface="Bookman Old Style" panose="0205060405050502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039112" y="22814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4F72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Local Preprocessing</a:t>
            </a:r>
            <a:endParaRPr lang="en-US" sz="1150" dirty="0">
              <a:latin typeface="Bookman Old Style" panose="0205060405050502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039112" y="2468880"/>
            <a:ext cx="1371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Filter, compress &amp; aggregate data; protocol translation (MQTT/OPC-UA)</a:t>
            </a:r>
            <a:endParaRPr lang="en-US" sz="1050" dirty="0">
              <a:latin typeface="Bookman Old Style" panose="020506040505050202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294376" y="1463040"/>
            <a:ext cx="18288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12464" y="804672"/>
            <a:ext cx="1554480" cy="4069080"/>
          </a:xfrm>
          <a:prstGeom prst="rect">
            <a:avLst/>
          </a:prstGeom>
          <a:solidFill>
            <a:srgbClr val="F0F8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12464" y="804672"/>
            <a:ext cx="155448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12464" y="8046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00" dirty="0">
              <a:latin typeface="Bookman Old Style" panose="0205060405050502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712464" y="1325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>
              <a:latin typeface="Bookman Old Style" panose="0205060405050502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794760" y="22814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4F72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Edge Processing</a:t>
            </a:r>
            <a:endParaRPr lang="en-US" sz="1150" dirty="0">
              <a:latin typeface="Bookman Old Style" panose="0205060405050502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803904" y="2468880"/>
            <a:ext cx="1371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AI inference, anomaly detection, object recognition at edge servers in milliseconds</a:t>
            </a:r>
            <a:endParaRPr lang="en-US" sz="1050" dirty="0">
              <a:latin typeface="Bookman Old Style" panose="020506040505050202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059168" y="1463040"/>
            <a:ext cx="18288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77256" y="804672"/>
            <a:ext cx="1554480" cy="4069080"/>
          </a:xfrm>
          <a:prstGeom prst="rect">
            <a:avLst/>
          </a:prstGeom>
          <a:solidFill>
            <a:srgbClr val="F0F8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77256" y="804672"/>
            <a:ext cx="155448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77256" y="8046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100" dirty="0">
              <a:latin typeface="Bookman Old Style" panose="020506040505050202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477256" y="1325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>
              <a:latin typeface="Bookman Old Style" panose="020506040505050202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568696" y="22814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4F72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1150" dirty="0">
              <a:latin typeface="Bookman Old Style" panose="020506040505050202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568696" y="2468880"/>
            <a:ext cx="1371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Autonomous local actions: alarms, braking, routing—no cloud round-trip needed</a:t>
            </a:r>
            <a:endParaRPr lang="en-US" sz="1050" dirty="0">
              <a:latin typeface="Bookman Old Style" panose="020506040505050202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242048" y="804672"/>
            <a:ext cx="1554480" cy="4069080"/>
          </a:xfrm>
          <a:prstGeom prst="rect">
            <a:avLst/>
          </a:prstGeom>
          <a:solidFill>
            <a:srgbClr val="F0F8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42048" y="804672"/>
            <a:ext cx="155448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42048" y="8046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1100" dirty="0">
              <a:latin typeface="Bookman Old Style" panose="020506040505050202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242048" y="1325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>
              <a:latin typeface="Bookman Old Style" panose="020506040505050202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333488" y="22814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4F72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Cloud Sync</a:t>
            </a:r>
            <a:endParaRPr lang="en-US" sz="1150" dirty="0">
              <a:latin typeface="Bookman Old Style" panose="020506040505050202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333488" y="2468880"/>
            <a:ext cx="1371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Selective async upload for long-term storage, model retraining &amp; global analytics</a:t>
            </a:r>
            <a:endParaRPr lang="en-US" sz="1050" dirty="0">
              <a:latin typeface="Bookman Old Style" panose="02050604050505020204" pitchFamily="18" charset="0"/>
            </a:endParaRPr>
          </a:p>
        </p:txBody>
      </p:sp>
      <p:pic>
        <p:nvPicPr>
          <p:cNvPr id="38" name="Image 0" descr="preencoded.png">
            <a:extLst>
              <a:ext uri="{FF2B5EF4-FFF2-40B4-BE49-F238E27FC236}">
                <a16:creationId xmlns:a16="http://schemas.microsoft.com/office/drawing/2014/main" id="{24B2B016-B7FF-565F-9B72-722716D2E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2194"/>
            <a:ext cx="548640" cy="548640"/>
          </a:xfrm>
          <a:prstGeom prst="rect">
            <a:avLst/>
          </a:prstGeom>
        </p:spPr>
      </p:pic>
      <p:pic>
        <p:nvPicPr>
          <p:cNvPr id="39" name="Image 1" descr="preencoded.png">
            <a:extLst>
              <a:ext uri="{FF2B5EF4-FFF2-40B4-BE49-F238E27FC236}">
                <a16:creationId xmlns:a16="http://schemas.microsoft.com/office/drawing/2014/main" id="{007FD94C-185F-C6B8-A6E8-46C3ED6F5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1448" y="1554480"/>
            <a:ext cx="548640" cy="548640"/>
          </a:xfrm>
          <a:prstGeom prst="rect">
            <a:avLst/>
          </a:prstGeom>
        </p:spPr>
      </p:pic>
      <p:pic>
        <p:nvPicPr>
          <p:cNvPr id="40" name="Image 2" descr="preencoded.png">
            <a:extLst>
              <a:ext uri="{FF2B5EF4-FFF2-40B4-BE49-F238E27FC236}">
                <a16:creationId xmlns:a16="http://schemas.microsoft.com/office/drawing/2014/main" id="{0287B555-FA6C-CBA8-35A8-75EA62B3FA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9956" y="1554480"/>
            <a:ext cx="548640" cy="548640"/>
          </a:xfrm>
          <a:prstGeom prst="rect">
            <a:avLst/>
          </a:prstGeom>
        </p:spPr>
      </p:pic>
      <p:pic>
        <p:nvPicPr>
          <p:cNvPr id="41" name="Image 3" descr="preencoded.png">
            <a:extLst>
              <a:ext uri="{FF2B5EF4-FFF2-40B4-BE49-F238E27FC236}">
                <a16:creationId xmlns:a16="http://schemas.microsoft.com/office/drawing/2014/main" id="{FA16F464-9C00-0EB9-A307-9410C9AD6F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3891" y="1559052"/>
            <a:ext cx="548640" cy="548640"/>
          </a:xfrm>
          <a:prstGeom prst="rect">
            <a:avLst/>
          </a:prstGeom>
        </p:spPr>
      </p:pic>
      <p:pic>
        <p:nvPicPr>
          <p:cNvPr id="42" name="Image 4" descr="preencoded.png">
            <a:extLst>
              <a:ext uri="{FF2B5EF4-FFF2-40B4-BE49-F238E27FC236}">
                <a16:creationId xmlns:a16="http://schemas.microsoft.com/office/drawing/2014/main" id="{416E5E41-C0CD-2F13-50CF-D887982B55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4968" y="1559052"/>
            <a:ext cx="548640" cy="54864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4" grpId="0" animBg="1"/>
      <p:bldP spid="15" grpId="0" animBg="1"/>
      <p:bldP spid="16" grpId="0" animBg="1"/>
      <p:bldP spid="17" grpId="0" animBg="1"/>
      <p:bldP spid="21" grpId="0" animBg="1"/>
      <p:bldP spid="22" grpId="0" animBg="1"/>
      <p:bldP spid="23" grpId="0" animBg="1"/>
      <p:bldP spid="24" grpId="0" animBg="1"/>
      <p:bldP spid="28" grpId="0" animBg="1"/>
      <p:bldP spid="29" grpId="0" animBg="1"/>
      <p:bldP spid="30" grpId="0" animBg="1"/>
      <p:bldP spid="31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REAL-WORLD EXAMPLE: AUTONOMOUS VEHICLE</a:t>
            </a:r>
            <a:endParaRPr lang="en-US" sz="2000" dirty="0">
              <a:latin typeface="Baskerville Old Face" panose="0202060208050502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411480"/>
          </a:xfrm>
          <a:prstGeom prst="rect">
            <a:avLst/>
          </a:prstGeom>
          <a:solidFill>
            <a:srgbClr val="FEF9C3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680" y="795528"/>
            <a:ext cx="7853839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Autonomous vehicles generate up to 40 TB of raw data per hour, thus cloud latency is physically impossible for safety-critical decisions</a:t>
            </a:r>
            <a:endParaRPr lang="en-US" sz="900" dirty="0">
              <a:latin typeface="Bookman Old Style" panose="0205060405050502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467612"/>
            <a:ext cx="320040" cy="32004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676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14538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LiDAR + Cameras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834640" y="136245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3D point clouds at 10–20 Hz; 30 fps video streams across multiple angles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13232" y="1892808"/>
            <a:ext cx="8229600" cy="18288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139410"/>
            <a:ext cx="320040" cy="32004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13941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13232" y="21214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Sensor Fusion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834640" y="206654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Synchronizes data, constructs unified environmental model (occupancy grid)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13232" y="2596896"/>
            <a:ext cx="8229600" cy="18288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825496"/>
            <a:ext cx="320040" cy="32004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8254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13232" y="28254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Onboard AI (NVIDIA Drive)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834640" y="27706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Deep neural networks for object detection, lane &amp; pedestrian recognition in real time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13232" y="3300984"/>
            <a:ext cx="8229600" cy="18288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529584"/>
            <a:ext cx="320040" cy="32004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529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13232" y="35341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Planning Module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834640" y="3474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Steering, braking &amp; lane changes decided in 10–50ms onboard. Emergency braking &lt; 10ms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13232" y="4005072"/>
            <a:ext cx="8229600" cy="18288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233672"/>
            <a:ext cx="320040" cy="32004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2336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13232" y="42336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Cloud Sync (Wi-Fi/OTA)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834640" y="417880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Anonymized driving logs uploaded for fleet-wide model retraining after trips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13232" y="4709160"/>
            <a:ext cx="8229600" cy="18288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DE2D5C6F-5EEF-C62C-9708-A46B19B0F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" y="859536"/>
            <a:ext cx="297180" cy="2971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0" grpId="0" animBg="1"/>
      <p:bldP spid="13" grpId="0" animBg="1"/>
      <p:bldP spid="15" grpId="0" animBg="1"/>
      <p:bldP spid="16" grpId="0" animBg="1"/>
      <p:bldP spid="19" grpId="0" animBg="1"/>
      <p:bldP spid="21" grpId="0" animBg="1"/>
      <p:bldP spid="22" grpId="0" animBg="1"/>
      <p:bldP spid="25" grpId="0" animBg="1"/>
      <p:bldP spid="27" grpId="0" animBg="1"/>
      <p:bldP spid="28" grpId="0" animBg="1"/>
      <p:bldP spid="31" grpId="0" animBg="1"/>
      <p:bldP spid="32" grpId="0" animBg="1"/>
      <p:bldP spid="3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EDGE vs CLOUD COMPUTING</a:t>
            </a:r>
            <a:endParaRPr lang="en-US" sz="2000" dirty="0">
              <a:latin typeface="Baskerville Old Face" panose="02020602080505020303" pitchFamily="18" charset="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580522"/>
              </p:ext>
            </p:extLst>
          </p:nvPr>
        </p:nvGraphicFramePr>
        <p:xfrm>
          <a:off x="274320" y="804672"/>
          <a:ext cx="8503920" cy="409651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</a:rPr>
                        <a:t>Feature</a:t>
                      </a:r>
                      <a:endParaRPr lang="en-US" sz="12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</a:rPr>
                        <a:t>Cloud Computing</a:t>
                      </a:r>
                      <a:endParaRPr lang="en-US" sz="12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7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</a:rPr>
                        <a:t>Edge Computing</a:t>
                      </a:r>
                      <a:endParaRPr lang="en-US" sz="12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ookman Old Style" panose="02050604050505020204" pitchFamily="18" charset="0"/>
                        </a:rPr>
                        <a:t>Application</a:t>
                      </a:r>
                      <a:endParaRPr lang="en-US" sz="11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ookman Old Style" panose="02050604050505020204" pitchFamily="18" charset="0"/>
                        </a:rPr>
                        <a:t>Global &amp; large-scale</a:t>
                      </a:r>
                      <a:endParaRPr lang="en-US" sz="11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ookman Old Style" panose="02050604050505020204" pitchFamily="18" charset="0"/>
                        </a:rPr>
                        <a:t>Local or proximate</a:t>
                      </a:r>
                      <a:endParaRPr lang="en-US" sz="11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ookman Old Style" panose="02050604050505020204" pitchFamily="18" charset="0"/>
                        </a:rPr>
                        <a:t>Bandwidth Load</a:t>
                      </a:r>
                      <a:endParaRPr lang="en-US" sz="11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ookman Old Style" panose="02050604050505020204" pitchFamily="18" charset="0"/>
                        </a:rPr>
                        <a:t>High — all data traverses WAN</a:t>
                      </a:r>
                      <a:endParaRPr lang="en-US" sz="11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ookman Old Style" panose="02050604050505020204" pitchFamily="18" charset="0"/>
                        </a:rPr>
                        <a:t>Low — most data processed locally</a:t>
                      </a:r>
                      <a:endParaRPr lang="en-US" sz="11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ookman Old Style" panose="02050604050505020204" pitchFamily="18" charset="0"/>
                        </a:rPr>
                        <a:t>Latency</a:t>
                      </a:r>
                      <a:endParaRPr lang="en-US" sz="11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ookman Old Style" panose="02050604050505020204" pitchFamily="18" charset="0"/>
                        </a:rPr>
                        <a:t>50–200 ms (high)</a:t>
                      </a:r>
                      <a:endParaRPr lang="en-US" sz="11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ookman Old Style" panose="02050604050505020204" pitchFamily="18" charset="0"/>
                        </a:rPr>
                        <a:t>1–10 ms (ultra-low)</a:t>
                      </a:r>
                      <a:endParaRPr lang="en-US" sz="11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ookman Old Style" panose="02050604050505020204" pitchFamily="18" charset="0"/>
                        </a:rPr>
                        <a:t>Processing Mode</a:t>
                      </a:r>
                      <a:endParaRPr lang="en-US" sz="11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ookman Old Style" panose="02050604050505020204" pitchFamily="18" charset="0"/>
                        </a:rPr>
                        <a:t>Centralized, large-scale</a:t>
                      </a:r>
                      <a:endParaRPr lang="en-US" sz="11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ookman Old Style" panose="02050604050505020204" pitchFamily="18" charset="0"/>
                        </a:rPr>
                        <a:t>Distributed, small-scale AI</a:t>
                      </a:r>
                      <a:endParaRPr lang="en-US" sz="11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ookman Old Style" panose="02050604050505020204" pitchFamily="18" charset="0"/>
                        </a:rPr>
                        <a:t>Security Model</a:t>
                      </a:r>
                      <a:endParaRPr lang="en-US" sz="11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ookman Old Style" panose="02050604050505020204" pitchFamily="18" charset="0"/>
                        </a:rPr>
                        <a:t>Centralized — perimeter based</a:t>
                      </a:r>
                      <a:endParaRPr lang="en-US" sz="11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ookman Old Style" panose="02050604050505020204" pitchFamily="18" charset="0"/>
                        </a:rPr>
                        <a:t>Distributed — data stays local</a:t>
                      </a:r>
                      <a:endParaRPr lang="en-US" sz="11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ookman Old Style" panose="02050604050505020204" pitchFamily="18" charset="0"/>
                        </a:rPr>
                        <a:t>Energy Use</a:t>
                      </a:r>
                      <a:endParaRPr lang="en-US" sz="11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ookman Old Style" panose="02050604050505020204" pitchFamily="18" charset="0"/>
                        </a:rPr>
                        <a:t>High — large data centers</a:t>
                      </a:r>
                      <a:endParaRPr lang="en-US" sz="11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ookman Old Style" panose="02050604050505020204" pitchFamily="18" charset="0"/>
                        </a:rPr>
                        <a:t>Lower — distributed micro-nodes</a:t>
                      </a:r>
                      <a:endParaRPr lang="en-US" sz="11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ookman Old Style" panose="02050604050505020204" pitchFamily="18" charset="0"/>
                        </a:rPr>
                        <a:t>Best Use Case</a:t>
                      </a:r>
                      <a:endParaRPr lang="en-US" sz="11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ookman Old Style" panose="02050604050505020204" pitchFamily="18" charset="0"/>
                        </a:rPr>
                        <a:t>ML training, BI, archival</a:t>
                      </a:r>
                      <a:endParaRPr lang="en-US" sz="11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ookman Old Style" panose="02050604050505020204" pitchFamily="18" charset="0"/>
                        </a:rPr>
                        <a:t>Autonomous vehicles, IoT, CCTV</a:t>
                      </a:r>
                      <a:endParaRPr lang="en-US" sz="11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KEY TECHNOLOGIES</a:t>
            </a:r>
            <a:endParaRPr lang="en-US" sz="2000" dirty="0">
              <a:latin typeface="Baskerville Old Face" panose="0202060208050502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43200" cy="1920240"/>
          </a:xfrm>
          <a:prstGeom prst="rect">
            <a:avLst/>
          </a:prstGeom>
          <a:solidFill>
            <a:srgbClr val="F0F8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274320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0068" y="804672"/>
            <a:ext cx="2276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 Computing Offloading</a:t>
            </a:r>
            <a:endParaRPr lang="en-US" sz="1150" dirty="0">
              <a:latin typeface="Bookman Old Style" panose="0205060405050502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84048" y="1335024"/>
            <a:ext cx="25237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Migrates intensive tasks from resource-constrained devices to nearby MEC servers. Outcomes: local execution, full offload, or partial offload.</a:t>
            </a:r>
            <a:endParaRPr lang="en-US" sz="1050" dirty="0">
              <a:latin typeface="Bookman Old Style" panose="0205060405050502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154680" y="804672"/>
            <a:ext cx="2743200" cy="1920240"/>
          </a:xfrm>
          <a:prstGeom prst="rect">
            <a:avLst/>
          </a:prstGeom>
          <a:solidFill>
            <a:srgbClr val="F0F8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804672"/>
            <a:ext cx="274320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14724" y="804672"/>
            <a:ext cx="22917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 5G Integration</a:t>
            </a:r>
            <a:endParaRPr lang="en-US" sz="1150" dirty="0">
              <a:latin typeface="Bookman Old Style" panose="0205060405050502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64408" y="1335024"/>
            <a:ext cx="25237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Ultra-low latency (1ms), high bandwidth, and massive device connectivity creating new real-time application categories.</a:t>
            </a:r>
            <a:endParaRPr lang="en-US" sz="1050" dirty="0">
              <a:latin typeface="Bookman Old Style" panose="0205060405050502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35040" y="804672"/>
            <a:ext cx="2743200" cy="1920240"/>
          </a:xfrm>
          <a:prstGeom prst="rect">
            <a:avLst/>
          </a:prstGeom>
          <a:solidFill>
            <a:srgbClr val="F0F8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804672"/>
            <a:ext cx="2743200" cy="4572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0806" y="804672"/>
            <a:ext cx="22359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 Caching Acceleration</a:t>
            </a:r>
            <a:endParaRPr lang="en-US" sz="1150" dirty="0">
              <a:latin typeface="Bookman Old Style" panose="0205060405050502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144768" y="1335024"/>
            <a:ext cx="25237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Edge-cached content (base station, CDN) is served locally — Netflix Open Connect serves 95% of traffic from edge appliances.</a:t>
            </a:r>
            <a:endParaRPr lang="en-US" sz="1050" dirty="0">
              <a:latin typeface="Bookman Old Style" panose="0205060405050502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" y="2862072"/>
            <a:ext cx="2743200" cy="1920240"/>
          </a:xfrm>
          <a:prstGeom prst="rect">
            <a:avLst/>
          </a:prstGeom>
          <a:solidFill>
            <a:srgbClr val="F0F8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62072"/>
            <a:ext cx="274320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068" y="2862072"/>
            <a:ext cx="2276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 Mobility Management</a:t>
            </a:r>
            <a:endParaRPr lang="en-US" sz="1150" dirty="0">
              <a:latin typeface="Bookman Old Style" panose="0205060405050502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84048" y="3392424"/>
            <a:ext cx="25237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Seamless VM migration across edge nodes to maintain service continuity as mobile users traverse geographic zones.</a:t>
            </a:r>
            <a:endParaRPr lang="en-US" sz="1050" dirty="0">
              <a:latin typeface="Bookman Old Style" panose="0205060405050502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154680" y="2862072"/>
            <a:ext cx="2743200" cy="1920240"/>
          </a:xfrm>
          <a:prstGeom prst="rect">
            <a:avLst/>
          </a:prstGeom>
          <a:solidFill>
            <a:srgbClr val="F0F8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2862072"/>
            <a:ext cx="2743200" cy="4572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7004" y="2862072"/>
            <a:ext cx="2239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 Traffic Offloading</a:t>
            </a:r>
            <a:endParaRPr lang="en-US" sz="1150" dirty="0">
              <a:latin typeface="Bookman Old Style" panose="0205060405050502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264408" y="3392424"/>
            <a:ext cx="25237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Offloads data to mobile edge networks, reducing backhaul bandwidth. Saves up to 34% energy in heterogeneous wireless networks.</a:t>
            </a:r>
            <a:endParaRPr lang="en-US" sz="1050" dirty="0">
              <a:latin typeface="Bookman Old Style" panose="020506040505050202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035040" y="2862072"/>
            <a:ext cx="2743200" cy="1920240"/>
          </a:xfrm>
          <a:prstGeom prst="rect">
            <a:avLst/>
          </a:prstGeom>
          <a:solidFill>
            <a:srgbClr val="F0F8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862072"/>
            <a:ext cx="2743200" cy="457200"/>
          </a:xfrm>
          <a:prstGeom prst="rect">
            <a:avLst/>
          </a:prstGeom>
          <a:solidFill>
            <a:srgbClr val="A35FA3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7666" y="2862072"/>
            <a:ext cx="22091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 Containers &amp; K3s</a:t>
            </a:r>
            <a:endParaRPr lang="en-US" sz="1150" dirty="0">
              <a:latin typeface="Bookman Old Style" panose="0205060405050502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144768" y="3392424"/>
            <a:ext cx="25237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Docker containers + lightweight Kubernetes (512 MB footprint) enable portable, orchestrated edge application deployments.</a:t>
            </a:r>
            <a:endParaRPr lang="en-US" sz="1050" dirty="0">
              <a:latin typeface="Bookman Old Style" panose="02050604050505020204" pitchFamily="18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12F9F29-F5A0-4C1B-55C1-10BF5128F042}"/>
              </a:ext>
            </a:extLst>
          </p:cNvPr>
          <p:cNvGrpSpPr/>
          <p:nvPr/>
        </p:nvGrpSpPr>
        <p:grpSpPr>
          <a:xfrm>
            <a:off x="334459" y="863251"/>
            <a:ext cx="347472" cy="347472"/>
            <a:chOff x="365760" y="987552"/>
            <a:chExt cx="594360" cy="594360"/>
          </a:xfrm>
        </p:grpSpPr>
        <p:sp>
          <p:nvSpPr>
            <p:cNvPr id="33" name="Shape 4">
              <a:extLst>
                <a:ext uri="{FF2B5EF4-FFF2-40B4-BE49-F238E27FC236}">
                  <a16:creationId xmlns:a16="http://schemas.microsoft.com/office/drawing/2014/main" id="{BF86EF68-CF91-BC8A-9DC5-828C7E68D2DB}"/>
                </a:ext>
              </a:extLst>
            </p:cNvPr>
            <p:cNvSpPr/>
            <p:nvPr/>
          </p:nvSpPr>
          <p:spPr>
            <a:xfrm>
              <a:off x="365760" y="987552"/>
              <a:ext cx="594360" cy="594360"/>
            </a:xfrm>
            <a:prstGeom prst="ellipse">
              <a:avLst/>
            </a:prstGeom>
            <a:solidFill>
              <a:srgbClr val="0D9488">
                <a:alpha val="85000"/>
              </a:srgbClr>
            </a:solidFill>
            <a:ln w="12700">
              <a:solidFill>
                <a:srgbClr val="333333"/>
              </a:solidFill>
              <a:prstDash val="solid"/>
            </a:ln>
          </p:spPr>
        </p:sp>
        <p:pic>
          <p:nvPicPr>
            <p:cNvPr id="34" name="Image 0" descr="preencoded.png">
              <a:extLst>
                <a:ext uri="{FF2B5EF4-FFF2-40B4-BE49-F238E27FC236}">
                  <a16:creationId xmlns:a16="http://schemas.microsoft.com/office/drawing/2014/main" id="{6B57C160-8C14-6EB8-B6E1-974DEFA6B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9768" y="1051560"/>
              <a:ext cx="475488" cy="475488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CCC6A2A-7AF6-DA81-4D37-1E6058DD595F}"/>
              </a:ext>
            </a:extLst>
          </p:cNvPr>
          <p:cNvGrpSpPr/>
          <p:nvPr/>
        </p:nvGrpSpPr>
        <p:grpSpPr>
          <a:xfrm>
            <a:off x="3219532" y="859536"/>
            <a:ext cx="347472" cy="347472"/>
            <a:chOff x="3291840" y="987552"/>
            <a:chExt cx="594360" cy="594360"/>
          </a:xfrm>
        </p:grpSpPr>
        <p:sp>
          <p:nvSpPr>
            <p:cNvPr id="37" name="Shape 9">
              <a:extLst>
                <a:ext uri="{FF2B5EF4-FFF2-40B4-BE49-F238E27FC236}">
                  <a16:creationId xmlns:a16="http://schemas.microsoft.com/office/drawing/2014/main" id="{25A2C9E1-F71B-9A83-E90A-CC482042506C}"/>
                </a:ext>
              </a:extLst>
            </p:cNvPr>
            <p:cNvSpPr/>
            <p:nvPr/>
          </p:nvSpPr>
          <p:spPr>
            <a:xfrm>
              <a:off x="3291840" y="987552"/>
              <a:ext cx="594360" cy="594360"/>
            </a:xfrm>
            <a:prstGeom prst="ellipse">
              <a:avLst/>
            </a:prstGeom>
            <a:solidFill>
              <a:srgbClr val="7C3AED">
                <a:alpha val="85000"/>
              </a:srgbClr>
            </a:solidFill>
            <a:ln w="12700">
              <a:solidFill>
                <a:srgbClr val="333333"/>
              </a:solidFill>
              <a:prstDash val="solid"/>
            </a:ln>
          </p:spPr>
        </p:sp>
        <p:pic>
          <p:nvPicPr>
            <p:cNvPr id="38" name="Image 1" descr="preencoded.png">
              <a:extLst>
                <a:ext uri="{FF2B5EF4-FFF2-40B4-BE49-F238E27FC236}">
                  <a16:creationId xmlns:a16="http://schemas.microsoft.com/office/drawing/2014/main" id="{CDB848B2-8DCC-960E-C69A-EB8534AAFA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55848" y="1051560"/>
              <a:ext cx="475488" cy="475488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BF6C375-471F-B6DE-2FBB-FDC03B67ED46}"/>
              </a:ext>
            </a:extLst>
          </p:cNvPr>
          <p:cNvGrpSpPr/>
          <p:nvPr/>
        </p:nvGrpSpPr>
        <p:grpSpPr>
          <a:xfrm>
            <a:off x="6126480" y="863251"/>
            <a:ext cx="351187" cy="351187"/>
            <a:chOff x="6217920" y="987552"/>
            <a:chExt cx="594360" cy="594360"/>
          </a:xfrm>
        </p:grpSpPr>
        <p:sp>
          <p:nvSpPr>
            <p:cNvPr id="40" name="Shape 14">
              <a:extLst>
                <a:ext uri="{FF2B5EF4-FFF2-40B4-BE49-F238E27FC236}">
                  <a16:creationId xmlns:a16="http://schemas.microsoft.com/office/drawing/2014/main" id="{E946B036-AFBB-68D2-9F6F-790D24850C92}"/>
                </a:ext>
              </a:extLst>
            </p:cNvPr>
            <p:cNvSpPr/>
            <p:nvPr/>
          </p:nvSpPr>
          <p:spPr>
            <a:xfrm>
              <a:off x="6217920" y="987552"/>
              <a:ext cx="594360" cy="594360"/>
            </a:xfrm>
            <a:prstGeom prst="ellipse">
              <a:avLst/>
            </a:prstGeom>
            <a:solidFill>
              <a:srgbClr val="F59E0B">
                <a:alpha val="85000"/>
              </a:srgbClr>
            </a:solidFill>
            <a:ln w="12700">
              <a:solidFill>
                <a:srgbClr val="333333"/>
              </a:solidFill>
              <a:prstDash val="solid"/>
            </a:ln>
          </p:spPr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703255EE-12D2-900B-F0C9-5E3A336E5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81928" y="1051560"/>
              <a:ext cx="475488" cy="475488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053F7E5-B187-FC2B-FC7A-A82731702A83}"/>
              </a:ext>
            </a:extLst>
          </p:cNvPr>
          <p:cNvGrpSpPr/>
          <p:nvPr/>
        </p:nvGrpSpPr>
        <p:grpSpPr>
          <a:xfrm>
            <a:off x="334459" y="2926080"/>
            <a:ext cx="356898" cy="356898"/>
            <a:chOff x="365760" y="2999232"/>
            <a:chExt cx="594360" cy="594360"/>
          </a:xfrm>
        </p:grpSpPr>
        <p:sp>
          <p:nvSpPr>
            <p:cNvPr id="43" name="Shape 19">
              <a:extLst>
                <a:ext uri="{FF2B5EF4-FFF2-40B4-BE49-F238E27FC236}">
                  <a16:creationId xmlns:a16="http://schemas.microsoft.com/office/drawing/2014/main" id="{89AB7847-8C78-9D1A-77F7-828EE251AC57}"/>
                </a:ext>
              </a:extLst>
            </p:cNvPr>
            <p:cNvSpPr/>
            <p:nvPr/>
          </p:nvSpPr>
          <p:spPr>
            <a:xfrm>
              <a:off x="365760" y="2999232"/>
              <a:ext cx="594360" cy="594360"/>
            </a:xfrm>
            <a:prstGeom prst="ellipse">
              <a:avLst/>
            </a:prstGeom>
            <a:solidFill>
              <a:srgbClr val="22C55E">
                <a:alpha val="85000"/>
              </a:srgbClr>
            </a:solidFill>
            <a:ln w="12700">
              <a:solidFill>
                <a:srgbClr val="333333"/>
              </a:solidFill>
              <a:prstDash val="solid"/>
            </a:ln>
          </p:spPr>
        </p:sp>
        <p:pic>
          <p:nvPicPr>
            <p:cNvPr id="44" name="Image 3" descr="preencoded.png">
              <a:extLst>
                <a:ext uri="{FF2B5EF4-FFF2-40B4-BE49-F238E27FC236}">
                  <a16:creationId xmlns:a16="http://schemas.microsoft.com/office/drawing/2014/main" id="{391D69E8-DBEA-C8FD-B855-C80381440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9768" y="3063240"/>
              <a:ext cx="475488" cy="475488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E3F0805-713F-6006-289E-1B11168526E2}"/>
              </a:ext>
            </a:extLst>
          </p:cNvPr>
          <p:cNvGrpSpPr/>
          <p:nvPr/>
        </p:nvGrpSpPr>
        <p:grpSpPr>
          <a:xfrm>
            <a:off x="3241689" y="2919655"/>
            <a:ext cx="363323" cy="363323"/>
            <a:chOff x="3291840" y="2999232"/>
            <a:chExt cx="594360" cy="594360"/>
          </a:xfrm>
        </p:grpSpPr>
        <p:sp>
          <p:nvSpPr>
            <p:cNvPr id="46" name="Shape 24">
              <a:extLst>
                <a:ext uri="{FF2B5EF4-FFF2-40B4-BE49-F238E27FC236}">
                  <a16:creationId xmlns:a16="http://schemas.microsoft.com/office/drawing/2014/main" id="{0B4E8BE4-DA84-A198-AF02-4C321360484F}"/>
                </a:ext>
              </a:extLst>
            </p:cNvPr>
            <p:cNvSpPr/>
            <p:nvPr/>
          </p:nvSpPr>
          <p:spPr>
            <a:xfrm>
              <a:off x="3291840" y="2999232"/>
              <a:ext cx="594360" cy="594360"/>
            </a:xfrm>
            <a:prstGeom prst="ellipse">
              <a:avLst/>
            </a:prstGeom>
            <a:solidFill>
              <a:srgbClr val="EF4444">
                <a:alpha val="85000"/>
              </a:srgbClr>
            </a:solidFill>
            <a:ln w="12700">
              <a:solidFill>
                <a:srgbClr val="333333"/>
              </a:solidFill>
              <a:prstDash val="solid"/>
            </a:ln>
          </p:spPr>
        </p:sp>
        <p:pic>
          <p:nvPicPr>
            <p:cNvPr id="47" name="Image 4" descr="preencoded.png">
              <a:extLst>
                <a:ext uri="{FF2B5EF4-FFF2-40B4-BE49-F238E27FC236}">
                  <a16:creationId xmlns:a16="http://schemas.microsoft.com/office/drawing/2014/main" id="{247866B3-1DC5-0F87-374D-3B1C53C18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55848" y="3063240"/>
              <a:ext cx="475488" cy="475488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7F27E00-4D5C-3B19-6F99-9F7B86C032A0}"/>
              </a:ext>
            </a:extLst>
          </p:cNvPr>
          <p:cNvGrpSpPr/>
          <p:nvPr/>
        </p:nvGrpSpPr>
        <p:grpSpPr>
          <a:xfrm>
            <a:off x="6126480" y="2894440"/>
            <a:ext cx="388538" cy="388538"/>
            <a:chOff x="6217920" y="2999232"/>
            <a:chExt cx="594360" cy="594360"/>
          </a:xfrm>
        </p:grpSpPr>
        <p:sp>
          <p:nvSpPr>
            <p:cNvPr id="50" name="Shape 29">
              <a:extLst>
                <a:ext uri="{FF2B5EF4-FFF2-40B4-BE49-F238E27FC236}">
                  <a16:creationId xmlns:a16="http://schemas.microsoft.com/office/drawing/2014/main" id="{466450D2-AA6C-64AE-91E7-2D03328C2EF6}"/>
                </a:ext>
              </a:extLst>
            </p:cNvPr>
            <p:cNvSpPr/>
            <p:nvPr/>
          </p:nvSpPr>
          <p:spPr>
            <a:xfrm>
              <a:off x="6217920" y="2999232"/>
              <a:ext cx="594360" cy="594360"/>
            </a:xfrm>
            <a:prstGeom prst="ellipse">
              <a:avLst/>
            </a:prstGeom>
            <a:solidFill>
              <a:srgbClr val="1A2B4A">
                <a:alpha val="85000"/>
              </a:srgbClr>
            </a:solidFill>
            <a:ln w="12700">
              <a:solidFill>
                <a:srgbClr val="333333"/>
              </a:solidFill>
              <a:prstDash val="solid"/>
            </a:ln>
          </p:spPr>
        </p:sp>
        <p:pic>
          <p:nvPicPr>
            <p:cNvPr id="51" name="Image 5" descr="preencoded.png">
              <a:extLst>
                <a:ext uri="{FF2B5EF4-FFF2-40B4-BE49-F238E27FC236}">
                  <a16:creationId xmlns:a16="http://schemas.microsoft.com/office/drawing/2014/main" id="{2A042E0A-D736-287C-0247-E2DB8D460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81928" y="3063240"/>
              <a:ext cx="475488" cy="475488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  <p:bldP spid="14" grpId="0" animBg="1"/>
      <p:bldP spid="15" grpId="0" animBg="1"/>
      <p:bldP spid="18" grpId="0" animBg="1"/>
      <p:bldP spid="19" grpId="0" animBg="1"/>
      <p:bldP spid="22" grpId="0" animBg="1"/>
      <p:bldP spid="23" grpId="0" animBg="1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SECURITY &amp; PRIVACY</a:t>
            </a:r>
            <a:endParaRPr lang="en-US" sz="2000" dirty="0">
              <a:latin typeface="Baskerville Old Face" panose="0202060208050502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795528"/>
            <a:ext cx="794613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 Distributed architecture increases attack vectors vs. centralized cloud — each edge node is a potential attack surface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114800" cy="1664208"/>
          </a:xfrm>
          <a:prstGeom prst="rect">
            <a:avLst/>
          </a:prstGeom>
          <a:solidFill>
            <a:srgbClr val="F0F8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3716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F72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Data Security</a:t>
            </a:r>
            <a:endParaRPr lang="en-US" sz="1250" dirty="0">
              <a:latin typeface="Bookman Old Style" panose="0205060405050502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84048" y="1719072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Attribute-Based Encryption (ABE)</a:t>
            </a:r>
            <a:endParaRPr lang="en-US" sz="1050" dirty="0">
              <a:latin typeface="Bookman Old Style" panose="020506040505050202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Proxy Re-Encryption (PRE)</a:t>
            </a:r>
            <a:endParaRPr lang="en-US" sz="1050" dirty="0">
              <a:latin typeface="Bookman Old Style" panose="020506040505050202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Fully Homomorphic Encryption (FHE)</a:t>
            </a:r>
            <a:endParaRPr lang="en-US" sz="1050" dirty="0">
              <a:latin typeface="Bookman Old Style" panose="020506040505050202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Searchable Encryption on edge servers</a:t>
            </a:r>
            <a:endParaRPr lang="en-US" sz="1050" dirty="0">
              <a:latin typeface="Bookman Old Style" panose="020506040505050202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17720" y="1298448"/>
            <a:ext cx="4114800" cy="1664208"/>
          </a:xfrm>
          <a:prstGeom prst="rect">
            <a:avLst/>
          </a:prstGeom>
          <a:solidFill>
            <a:srgbClr val="F0F8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3716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F72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Identity Authentication</a:t>
            </a:r>
            <a:endParaRPr lang="en-US" sz="1250" dirty="0">
              <a:latin typeface="Bookman Old Style" panose="0205060405050502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27448" y="1719072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Single-domain &amp; cross-domain auth</a:t>
            </a:r>
            <a:endParaRPr lang="en-US" sz="1050" dirty="0">
              <a:latin typeface="Bookman Old Style" panose="020506040505050202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SAML, OpenID, SSO standards</a:t>
            </a:r>
            <a:endParaRPr lang="en-US" sz="1050" dirty="0">
              <a:latin typeface="Bookman Old Style" panose="020506040505050202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Handover authentication for mobile devices</a:t>
            </a:r>
            <a:endParaRPr lang="en-US" sz="1050" dirty="0">
              <a:latin typeface="Bookman Old Style" panose="020506040505050202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Multi trust-domain coexistence</a:t>
            </a:r>
            <a:endParaRPr lang="en-US" sz="1050" dirty="0">
              <a:latin typeface="Bookman Old Style" panose="0205060405050502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3099816"/>
            <a:ext cx="4114800" cy="1664208"/>
          </a:xfrm>
          <a:prstGeom prst="rect">
            <a:avLst/>
          </a:prstGeom>
          <a:solidFill>
            <a:srgbClr val="F0F8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1729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F72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Privacy Protection</a:t>
            </a:r>
            <a:endParaRPr lang="en-US" sz="1250" dirty="0">
              <a:latin typeface="Bookman Old Style" panose="0205060405050502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4048" y="3520440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Location privacy for LBS applications</a:t>
            </a:r>
            <a:endParaRPr lang="en-US" sz="1050" dirty="0">
              <a:latin typeface="Bookman Old Style" panose="020506040505050202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Federated learning — no raw data sharing</a:t>
            </a:r>
            <a:endParaRPr lang="en-US" sz="1050" dirty="0">
              <a:latin typeface="Bookman Old Style" panose="020506040505050202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Differential privacy techniques</a:t>
            </a:r>
            <a:endParaRPr lang="en-US" sz="1050" dirty="0">
              <a:latin typeface="Bookman Old Style" panose="020506040505050202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Fine-grained identity &amp; behavior schemes</a:t>
            </a:r>
            <a:endParaRPr lang="en-US" sz="1050" dirty="0">
              <a:latin typeface="Bookman Old Style" panose="020506040505050202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17720" y="3099816"/>
            <a:ext cx="4114800" cy="1664208"/>
          </a:xfrm>
          <a:prstGeom prst="rect">
            <a:avLst/>
          </a:prstGeom>
          <a:solidFill>
            <a:srgbClr val="F0F8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31729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F72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Access Control</a:t>
            </a:r>
            <a:endParaRPr lang="en-US" sz="1250" dirty="0">
              <a:latin typeface="Bookman Old Style" panose="0205060405050502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27448" y="3520440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Attribute-Based Access Control (ABAC)</a:t>
            </a:r>
            <a:endParaRPr lang="en-US" sz="1050" dirty="0">
              <a:latin typeface="Bookman Old Style" panose="020506040505050202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1050" dirty="0">
              <a:latin typeface="Bookman Old Style" panose="020506040505050202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Fine-grained data sharing</a:t>
            </a:r>
            <a:endParaRPr lang="en-US" sz="1050" dirty="0">
              <a:latin typeface="Bookman Old Style" panose="020506040505050202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Zero-trust architecture research</a:t>
            </a:r>
            <a:endParaRPr lang="en-US" sz="1050" dirty="0">
              <a:latin typeface="Bookman Old Style" panose="02050604050505020204" pitchFamily="18" charset="0"/>
            </a:endParaRPr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BF81C03F-622F-D237-AFB0-AFC2D1855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822960"/>
            <a:ext cx="292608" cy="29260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2000" dirty="0">
              <a:latin typeface="Baskerville Old Face" panose="0202060208050502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770632" cy="1938528"/>
          </a:xfrm>
          <a:prstGeom prst="rect">
            <a:avLst/>
          </a:prstGeom>
          <a:solidFill>
            <a:srgbClr val="F0F8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2770632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2587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 Video Streaming</a:t>
            </a:r>
            <a:endParaRPr lang="en-US" sz="1200" dirty="0">
              <a:latin typeface="Bookman Old Style" panose="0205060405050502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1316736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C3AED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Netflix Open Connect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25877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Edge appliances at ISPs cache top titles. 95% global traffic served from edge — 65%+ backbone reduction</a:t>
            </a:r>
            <a:endParaRPr lang="en-US" sz="1050" dirty="0">
              <a:latin typeface="Bookman Old Style" panose="020506040505050202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136392" y="804672"/>
            <a:ext cx="2770632" cy="1938528"/>
          </a:xfrm>
          <a:prstGeom prst="rect">
            <a:avLst/>
          </a:prstGeom>
          <a:solidFill>
            <a:srgbClr val="F0F8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36392" y="804672"/>
            <a:ext cx="2770632" cy="47548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804672"/>
            <a:ext cx="2587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 Predictive Maintenance</a:t>
            </a:r>
            <a:endParaRPr lang="en-US" sz="1200" dirty="0">
              <a:latin typeface="Bookman Old Style" panose="0205060405050502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27832" y="1316736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E7490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Industry 4.0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27832" y="1554480"/>
            <a:ext cx="25877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Edge sensors monitor machine vibration and predict failures in real time using intelligent gateways</a:t>
            </a:r>
            <a:endParaRPr lang="en-US" sz="1050" dirty="0">
              <a:latin typeface="Bookman Old Style" panose="020506040505050202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44184" y="804672"/>
            <a:ext cx="2770632" cy="1938528"/>
          </a:xfrm>
          <a:prstGeom prst="rect">
            <a:avLst/>
          </a:prstGeom>
          <a:solidFill>
            <a:srgbClr val="F0F8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44184" y="804672"/>
            <a:ext cx="2770632" cy="47548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35624" y="804672"/>
            <a:ext cx="2587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 Smart Cities</a:t>
            </a:r>
            <a:endParaRPr lang="en-US" sz="1200" dirty="0">
              <a:latin typeface="Bookman Old Style" panose="0205060405050502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135624" y="1316736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369A1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Traffic &amp; Infra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35624" y="1554480"/>
            <a:ext cx="25877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Intersection-level edge nodes adjust traffic signals locally, reducing avg wait times by 25–40%</a:t>
            </a:r>
            <a:endParaRPr lang="en-US" sz="1050" dirty="0">
              <a:latin typeface="Bookman Old Style" panose="020506040505050202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28600" y="2889504"/>
            <a:ext cx="2770632" cy="1938528"/>
          </a:xfrm>
          <a:prstGeom prst="rect">
            <a:avLst/>
          </a:prstGeom>
          <a:solidFill>
            <a:srgbClr val="F0F8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889504"/>
            <a:ext cx="2770632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889504"/>
            <a:ext cx="2587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 Healthcare</a:t>
            </a:r>
            <a:endParaRPr lang="en-US" sz="1200" dirty="0">
              <a:latin typeface="Bookman Old Style" panose="0205060405050502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0040" y="3401568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6A34A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ICU Monitoring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20040" y="3639312"/>
            <a:ext cx="25877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Smart gateways detect atrial fibrillation in real time and trigger bedside alarms within seconds, no cloud needed</a:t>
            </a:r>
            <a:endParaRPr lang="en-US" sz="1050" dirty="0">
              <a:latin typeface="Bookman Old Style" panose="020506040505050202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136392" y="2889504"/>
            <a:ext cx="2770632" cy="1938528"/>
          </a:xfrm>
          <a:prstGeom prst="rect">
            <a:avLst/>
          </a:prstGeom>
          <a:solidFill>
            <a:srgbClr val="F0F8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36392" y="2889504"/>
            <a:ext cx="2770632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27832" y="2889504"/>
            <a:ext cx="2587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 Security Monitoring</a:t>
            </a:r>
            <a:endParaRPr lang="en-US" sz="1200" dirty="0">
              <a:latin typeface="Bookman Old Style" panose="0205060405050502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227832" y="3401568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97706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Smart Surveillance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27832" y="3639312"/>
            <a:ext cx="25877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Lightweight neural networks (MobileNet/SqueezeNet) detect loitering and anomalous behavior at the edge</a:t>
            </a:r>
            <a:endParaRPr lang="en-US" sz="1050" dirty="0">
              <a:latin typeface="Bookman Old Style" panose="020506040505050202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044184" y="2889504"/>
            <a:ext cx="2770632" cy="1938528"/>
          </a:xfrm>
          <a:prstGeom prst="rect">
            <a:avLst/>
          </a:prstGeom>
          <a:solidFill>
            <a:srgbClr val="F0F8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44184" y="2889504"/>
            <a:ext cx="2770632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35624" y="2889504"/>
            <a:ext cx="2587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 Autonomous Vehicles</a:t>
            </a:r>
            <a:endParaRPr lang="en-US" sz="1200" dirty="0">
              <a:latin typeface="Bookman Old Style" panose="020506040505050202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135624" y="3401568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C2626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5G + V2X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135624" y="3639312"/>
            <a:ext cx="25877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Sub-10ms safety decisions, V2X communication, high-res map updates — all via edge computing platform</a:t>
            </a:r>
            <a:endParaRPr lang="en-US" sz="1050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21" grpId="0" animBg="1"/>
      <p:bldP spid="22" grpId="0" animBg="1"/>
      <p:bldP spid="23" grpId="0" animBg="1"/>
      <p:bldP spid="26" grpId="0" animBg="1"/>
      <p:bldP spid="27" grpId="0" animBg="1"/>
      <p:bldP spid="28" grpId="0" animBg="1"/>
      <p:bldP spid="31" grpId="0" animBg="1"/>
      <p:bldP spid="32" grpId="0" animBg="1"/>
      <p:bldP spid="3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CHALLENGES &amp; FUTURE DIRECTIONS</a:t>
            </a:r>
            <a:endParaRPr lang="en-US" sz="2000" dirty="0">
              <a:latin typeface="Baskerville Old Face" panose="0202060208050502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4023360" cy="3657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Current Challenges</a:t>
            </a:r>
            <a:endParaRPr lang="en-US" sz="1300" dirty="0">
              <a:latin typeface="Bookman Old Style" panose="0205060405050502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023360" cy="621792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710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91C1C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 Resource Management</a:t>
            </a:r>
            <a:endParaRPr lang="en-US" sz="1150" dirty="0">
              <a:latin typeface="Bookman Old Style" panose="0205060405050502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Heterogeneous, constrained hardware — dynamic CPU/memory allocation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947672"/>
            <a:ext cx="4023360" cy="621792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842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91C1C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 Interoperability</a:t>
            </a:r>
            <a:endParaRPr lang="en-US" sz="1150" dirty="0">
              <a:latin typeface="Bookman Old Style" panose="0205060405050502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2494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Fragmented vendors &amp; protocols; ETSI MEC and OpenFog efforts ongoing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2660904"/>
            <a:ext cx="4023360" cy="621792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697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91C1C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 Security at Scale</a:t>
            </a:r>
            <a:endParaRPr lang="en-US" sz="1150" dirty="0">
              <a:latin typeface="Bookman Old Style" panose="0205060405050502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1480" y="29626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Thousands of physically accessible nodes — each an attack surface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3374136"/>
            <a:ext cx="4023360" cy="621792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4107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91C1C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 Energy Efficiency</a:t>
            </a:r>
            <a:endParaRPr lang="en-US" sz="1150" dirty="0">
              <a:latin typeface="Bookman Old Style" panose="0205060405050502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1480" y="3675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Battery-constrained devices; ASICs/NPUs offer promising gains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74320" y="4087368"/>
            <a:ext cx="4023360" cy="621792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1239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91C1C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 AI at the Edge</a:t>
            </a:r>
            <a:endParaRPr lang="en-US" sz="1150" dirty="0">
              <a:latin typeface="Bookman Old Style" panose="020506040505050202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11480" y="4389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Model compression, pruning &amp; quantization for constrained hardware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63440" y="777240"/>
            <a:ext cx="420624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777240"/>
            <a:ext cx="4206240" cy="3657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300" dirty="0">
              <a:latin typeface="Bookman Old Style" panose="020506040505050202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663440" y="1234440"/>
            <a:ext cx="4206240" cy="621792"/>
          </a:xfrm>
          <a:prstGeom prst="rect">
            <a:avLst/>
          </a:prstGeom>
          <a:solidFill>
            <a:srgbClr val="F0FF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2710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6534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 5G Convergence</a:t>
            </a:r>
            <a:endParaRPr lang="en-US" sz="1150" dirty="0">
              <a:latin typeface="Bookman Old Style" panose="020506040505050202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00600" y="1536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Ultra-low latency and massive device connectivity in unified end-to-edge-to-cloud continuum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663440" y="1947672"/>
            <a:ext cx="4206240" cy="621792"/>
          </a:xfrm>
          <a:prstGeom prst="rect">
            <a:avLst/>
          </a:prstGeom>
          <a:solidFill>
            <a:srgbClr val="F0FF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9842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6534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 Blockchain Integration</a:t>
            </a:r>
            <a:endParaRPr lang="en-US" sz="1150" dirty="0">
              <a:latin typeface="Bookman Old Style" panose="020506040505050202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00600" y="22494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Decentralized trust and data provenance for distributed edge environments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663440" y="2660904"/>
            <a:ext cx="4206240" cy="621792"/>
          </a:xfrm>
          <a:prstGeom prst="rect">
            <a:avLst/>
          </a:prstGeom>
          <a:solidFill>
            <a:srgbClr val="F0FF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6974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6534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 Cognitive Edge Systems</a:t>
            </a:r>
            <a:endParaRPr lang="en-US" sz="1150" dirty="0">
              <a:latin typeface="Bookman Old Style" panose="020506040505050202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00600" y="29626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Autonomously learning and adapting edge AI agents (reinforcement learning)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663440" y="3374136"/>
            <a:ext cx="4206240" cy="621792"/>
          </a:xfrm>
          <a:prstGeom prst="rect">
            <a:avLst/>
          </a:prstGeom>
          <a:solidFill>
            <a:srgbClr val="F0FF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4107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6534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 Continuum Computing</a:t>
            </a:r>
            <a:endParaRPr lang="en-US" sz="1150" dirty="0">
              <a:latin typeface="Bookman Old Style" panose="020506040505050202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800600" y="3675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IoT to Edge to Cloud is treated as one unified fabric with new orchestration frameworks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663440" y="4087368"/>
            <a:ext cx="4206240" cy="621792"/>
          </a:xfrm>
          <a:prstGeom prst="rect">
            <a:avLst/>
          </a:prstGeom>
          <a:solidFill>
            <a:srgbClr val="F0FF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41239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6534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 Federated Learning</a:t>
            </a:r>
            <a:endParaRPr lang="en-US" sz="1150" dirty="0">
              <a:latin typeface="Bookman Old Style" panose="020506040505050202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800600" y="4389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Privacy-preserving AI training across distributed devices without sharing raw data</a:t>
            </a:r>
            <a:endParaRPr lang="en-US" sz="1000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4" grpId="0" animBg="1"/>
      <p:bldP spid="25" grpId="0" animBg="1"/>
      <p:bldP spid="27" grpId="0" animBg="1"/>
      <p:bldP spid="28" grpId="0" animBg="1"/>
      <p:bldP spid="30" grpId="0" animBg="1"/>
      <p:bldP spid="31" grpId="0" animBg="1"/>
      <p:bldP spid="33" grpId="0" animBg="1"/>
      <p:bldP spid="34" grpId="0" animBg="1"/>
      <p:bldP spid="36" grpId="0" animBg="1"/>
      <p:bldP spid="3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500" dirty="0">
                <a:solidFill>
                  <a:srgbClr val="00206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>
              <a:solidFill>
                <a:srgbClr val="002060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321040" cy="65836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15568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521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>
                    <a:lumMod val="50000"/>
                  </a:schemeClr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 Paradigm Shift</a:t>
            </a:r>
            <a:endParaRPr lang="en-US" sz="1300" dirty="0">
              <a:solidFill>
                <a:schemeClr val="accent5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017520" y="1170432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Edge computing is not an extension of cloud it’s instead a transformative redefinition of how data is processed and utilized</a:t>
            </a:r>
            <a:endParaRPr lang="en-US" sz="1100" dirty="0">
              <a:latin typeface="Bookman Old Style" panose="0205060405050502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1865376"/>
            <a:ext cx="8321040" cy="65836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65376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019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>
                    <a:lumMod val="50000"/>
                  </a:schemeClr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 Real-Time Intelligence</a:t>
            </a:r>
            <a:endParaRPr lang="en-US" sz="1300" dirty="0">
              <a:solidFill>
                <a:schemeClr val="accent5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17520" y="192024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Low-latency, distributed processing enables autonomous vehicles, smart cities, healthcare, and industrial IoT</a:t>
            </a:r>
            <a:endParaRPr lang="en-US" sz="1100" dirty="0">
              <a:latin typeface="Bookman Old Style" panose="0205060405050502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2615184"/>
            <a:ext cx="8321040" cy="65836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15184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517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>
                    <a:lumMod val="50000"/>
                  </a:schemeClr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 Layered Architecture</a:t>
            </a:r>
            <a:endParaRPr lang="en-US" sz="1300" dirty="0">
              <a:solidFill>
                <a:schemeClr val="accent5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017520" y="2670048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The three-layer architecture optimizes resource utilization and minimizes network congestion</a:t>
            </a:r>
            <a:endParaRPr lang="en-US" sz="1100" dirty="0">
              <a:latin typeface="Bookman Old Style" panose="0205060405050502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3364992"/>
            <a:ext cx="8321040" cy="65836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364992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4015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>
                    <a:lumMod val="50000"/>
                  </a:schemeClr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 Security &amp; Privacy</a:t>
            </a:r>
            <a:endParaRPr lang="en-US" sz="1300" dirty="0">
              <a:solidFill>
                <a:schemeClr val="accent5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017520" y="341985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Keeping data local inherently improves privacy; but distributed nodes require new lightweight security models</a:t>
            </a:r>
            <a:endParaRPr lang="en-US" sz="1100" dirty="0">
              <a:latin typeface="Bookman Old Style" panose="0205060405050502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8321040" cy="65836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114800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1513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>
                    <a:lumMod val="50000"/>
                  </a:schemeClr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  The Road Ahead</a:t>
            </a:r>
            <a:endParaRPr lang="en-US" sz="1300" dirty="0">
              <a:solidFill>
                <a:schemeClr val="accent5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017520" y="416966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5G/6G, federated learning, cognitive edge AI, and continuum computing will define the next generation of infrastructure</a:t>
            </a:r>
            <a:endParaRPr lang="en-US" sz="1100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  <p:bldP spid="14" grpId="0" animBg="1"/>
      <p:bldP spid="15" grpId="0" animBg="1"/>
      <p:bldP spid="18" grpId="0" animBg="1"/>
      <p:bldP spid="19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11F345-6748-122A-F589-FCE2CCB86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9ECD934-2C0C-A756-95A1-2BC56CB5056C}"/>
              </a:ext>
            </a:extLst>
          </p:cNvPr>
          <p:cNvSpPr txBox="1"/>
          <p:nvPr/>
        </p:nvSpPr>
        <p:spPr>
          <a:xfrm>
            <a:off x="1021080" y="2087002"/>
            <a:ext cx="710184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700" dirty="0">
                <a:solidFill>
                  <a:srgbClr val="002060"/>
                </a:solidFill>
                <a:latin typeface="Baskerville Old Face" panose="02020602080505020303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1682822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1270</Words>
  <Application>Microsoft Office PowerPoint</Application>
  <PresentationFormat>On-screen Show (16:9)</PresentationFormat>
  <Paragraphs>230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Baskerville Old Face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 Computing</dc:title>
  <dc:subject>PptxGenJS Presentation</dc:subject>
  <dc:creator>PptxGenJS</dc:creator>
  <cp:lastModifiedBy>Debottam Kar</cp:lastModifiedBy>
  <cp:revision>5</cp:revision>
  <dcterms:created xsi:type="dcterms:W3CDTF">2026-03-26T08:58:53Z</dcterms:created>
  <dcterms:modified xsi:type="dcterms:W3CDTF">2026-03-28T04:04:34Z</dcterms:modified>
</cp:coreProperties>
</file>