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embeddedFontLst>
    <p:embeddedFont>
      <p:font typeface="Helvetica World" panose="020B0604020202020204" charset="-128"/>
      <p:regular r:id="rId16"/>
    </p:embeddedFont>
    <p:embeddedFont>
      <p:font typeface="Helvetica World Bold" panose="020B0604020202020204" charset="-128"/>
      <p:regular r:id="rId17"/>
    </p:embeddedFont>
    <p:embeddedFont>
      <p:font typeface="Georgia Pro Condense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8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4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Box 5"/>
          <p:cNvSpPr txBox="1"/>
          <p:nvPr/>
        </p:nvSpPr>
        <p:spPr>
          <a:xfrm>
            <a:off x="1143000" y="2324100"/>
            <a:ext cx="16658307" cy="4206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21"/>
              </a:lnSpc>
            </a:pPr>
            <a:r>
              <a:rPr lang="en-US" sz="17521" u="none" strike="noStrike" spc="-613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Fog Computing</a:t>
            </a:r>
          </a:p>
          <a:p>
            <a:pPr marL="0" lvl="0" indent="0" algn="ctr">
              <a:lnSpc>
                <a:spcPts val="15603"/>
              </a:lnSpc>
            </a:pPr>
            <a:r>
              <a:rPr lang="en-US" sz="6241" u="none" strike="noStrike" spc="-218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Bringing Cloud and Edge for Real-Time Processing </a:t>
            </a:r>
          </a:p>
        </p:txBody>
      </p:sp>
      <p:sp>
        <p:nvSpPr>
          <p:cNvPr id="1048587" name="Freeform 6"/>
          <p:cNvSpPr/>
          <p:nvPr/>
        </p:nvSpPr>
        <p:spPr>
          <a:xfrm rot="-3117037">
            <a:off x="14351706" y="7594213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1048588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589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2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1048590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</p:sp>
      </p:grpSp>
      <p:sp>
        <p:nvSpPr>
          <p:cNvPr id="1048591" name="TextBox 7"/>
          <p:cNvSpPr txBox="1"/>
          <p:nvPr/>
        </p:nvSpPr>
        <p:spPr>
          <a:xfrm>
            <a:off x="666750" y="809625"/>
            <a:ext cx="7281553" cy="203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Introduction to Fog Computing</a:t>
            </a:r>
          </a:p>
        </p:txBody>
      </p:sp>
      <p:sp>
        <p:nvSpPr>
          <p:cNvPr id="1048592" name="TextBox 8"/>
          <p:cNvSpPr txBox="1"/>
          <p:nvPr/>
        </p:nvSpPr>
        <p:spPr>
          <a:xfrm>
            <a:off x="666750" y="3706163"/>
            <a:ext cx="6886575" cy="37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rapid growth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IoT devices generates massive data at the edge, leading to cloud latency and bandwidth issues.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Fog computing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offers a viable solution for enabling real-time processing of this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Box 2"/>
          <p:cNvSpPr txBox="1"/>
          <p:nvPr/>
        </p:nvSpPr>
        <p:spPr>
          <a:xfrm>
            <a:off x="2598707" y="1803971"/>
            <a:ext cx="13090587" cy="803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24"/>
              </a:lnSpc>
              <a:spcBef>
                <a:spcPct val="0"/>
              </a:spcBef>
            </a:pPr>
            <a:r>
              <a:rPr lang="en-US" sz="7027" u="none" strike="noStrike">
                <a:solidFill>
                  <a:srgbClr val="0D1C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Fog Computing</a:t>
            </a:r>
          </a:p>
        </p:txBody>
      </p:sp>
      <p:sp>
        <p:nvSpPr>
          <p:cNvPr id="1048594" name="TextBox 3"/>
          <p:cNvSpPr txBox="1"/>
          <p:nvPr/>
        </p:nvSpPr>
        <p:spPr>
          <a:xfrm>
            <a:off x="1384300" y="5231294"/>
            <a:ext cx="4580058" cy="225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43"/>
              </a:lnSpc>
              <a:spcBef>
                <a:spcPct val="0"/>
              </a:spcBef>
            </a:pPr>
            <a:r>
              <a:rPr lang="en-US" sz="4937" u="none" strike="noStrike">
                <a:solidFill>
                  <a:srgbClr val="0D1C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Proposed by CISCO SYSTEMS In 2014.</a:t>
            </a:r>
          </a:p>
        </p:txBody>
      </p:sp>
      <p:sp>
        <p:nvSpPr>
          <p:cNvPr id="1048595" name="TextBox 4"/>
          <p:cNvSpPr txBox="1"/>
          <p:nvPr/>
        </p:nvSpPr>
        <p:spPr>
          <a:xfrm>
            <a:off x="6131311" y="5231293"/>
            <a:ext cx="4580058" cy="394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43"/>
              </a:lnSpc>
              <a:spcBef>
                <a:spcPct val="0"/>
              </a:spcBef>
            </a:pPr>
            <a:r>
              <a:rPr lang="en-US" sz="4937" u="none" strike="noStrike">
                <a:solidFill>
                  <a:srgbClr val="0D1C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Fog computing is a distributed computing paradigm that extends cloud capabilities to the edge.</a:t>
            </a:r>
          </a:p>
        </p:txBody>
      </p:sp>
      <p:sp>
        <p:nvSpPr>
          <p:cNvPr id="1048596" name="TextBox 5"/>
          <p:cNvSpPr txBox="1"/>
          <p:nvPr/>
        </p:nvSpPr>
        <p:spPr>
          <a:xfrm>
            <a:off x="12141200" y="5231294"/>
            <a:ext cx="4580058" cy="394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43"/>
              </a:lnSpc>
              <a:spcBef>
                <a:spcPct val="0"/>
              </a:spcBef>
            </a:pPr>
            <a:r>
              <a:rPr lang="en-US" sz="4937" u="none" strike="noStrike">
                <a:solidFill>
                  <a:srgbClr val="0D1C2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It allows for data processing closer to the source, thereby reducing dependence on the cloud.</a:t>
            </a:r>
          </a:p>
        </p:txBody>
      </p:sp>
      <p:sp>
        <p:nvSpPr>
          <p:cNvPr id="1048597" name="AutoShape 6"/>
          <p:cNvSpPr/>
          <p:nvPr/>
        </p:nvSpPr>
        <p:spPr>
          <a:xfrm>
            <a:off x="-234848" y="3076890"/>
            <a:ext cx="18522848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1048598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599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48600" name="TextBox 7"/>
          <p:cNvSpPr txBox="1"/>
          <p:nvPr/>
        </p:nvSpPr>
        <p:spPr>
          <a:xfrm>
            <a:off x="666750" y="809625"/>
            <a:ext cx="7154659" cy="203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Architecture of Fog Computing</a:t>
            </a:r>
          </a:p>
        </p:txBody>
      </p:sp>
      <p:sp>
        <p:nvSpPr>
          <p:cNvPr id="1048601" name="TextBox 8"/>
          <p:cNvSpPr txBox="1"/>
          <p:nvPr/>
        </p:nvSpPr>
        <p:spPr>
          <a:xfrm>
            <a:off x="934833" y="3914424"/>
            <a:ext cx="6886575" cy="319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architecture consists of three layers: Edge, Fog, and Cloud. This distributed model reduces latency and optimizes bandwidth, enabling efficient data processing close to the source of data generation.</a:t>
            </a:r>
          </a:p>
        </p:txBody>
      </p:sp>
      <p:pic>
        <p:nvPicPr>
          <p:cNvPr id="2097152" name="Picture 209715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7089">
            <a:off x="10076897" y="795141"/>
            <a:ext cx="7430606" cy="8696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Box 2"/>
          <p:cNvSpPr txBox="1"/>
          <p:nvPr/>
        </p:nvSpPr>
        <p:spPr>
          <a:xfrm>
            <a:off x="1028700" y="3730518"/>
            <a:ext cx="6886575" cy="319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Collects data from various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IoT devices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like sensors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Performs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basic preprocessing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before sending to fog layer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Example systems include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smart sensors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 homes and industries</a:t>
            </a:r>
          </a:p>
        </p:txBody>
      </p:sp>
      <p:sp>
        <p:nvSpPr>
          <p:cNvPr id="1048603" name="TextBox 3"/>
          <p:cNvSpPr txBox="1"/>
          <p:nvPr/>
        </p:nvSpPr>
        <p:spPr>
          <a:xfrm>
            <a:off x="666750" y="581025"/>
            <a:ext cx="6886575" cy="264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Edge Layer Functions</a:t>
            </a:r>
          </a:p>
        </p:txBody>
      </p:sp>
      <p:pic>
        <p:nvPicPr>
          <p:cNvPr id="2097153" name="Picture 209715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09350" y="955784"/>
            <a:ext cx="8347074" cy="8375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Box 2"/>
          <p:cNvSpPr txBox="1"/>
          <p:nvPr/>
        </p:nvSpPr>
        <p:spPr>
          <a:xfrm>
            <a:off x="1028700" y="3918443"/>
            <a:ext cx="6886575" cy="319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Supports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real-time processing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incoming data streams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Facilitates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filtering and aggregation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actionable insights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Enables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immediate decision-making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 low latency responses</a:t>
            </a:r>
          </a:p>
        </p:txBody>
      </p:sp>
      <p:sp>
        <p:nvSpPr>
          <p:cNvPr id="1048606" name="TextBox 3"/>
          <p:cNvSpPr txBox="1"/>
          <p:nvPr/>
        </p:nvSpPr>
        <p:spPr>
          <a:xfrm>
            <a:off x="666750" y="581025"/>
            <a:ext cx="6886575" cy="264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Fog Layer Functionality</a:t>
            </a:r>
          </a:p>
        </p:txBody>
      </p:sp>
      <p:grpSp>
        <p:nvGrpSpPr>
          <p:cNvPr id="39" name="Group 4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1048607" name="Freeform 5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Box 2"/>
          <p:cNvSpPr txBox="1"/>
          <p:nvPr/>
        </p:nvSpPr>
        <p:spPr>
          <a:xfrm>
            <a:off x="1028700" y="4130347"/>
            <a:ext cx="6886575" cy="3199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Facilitates big data analytics for informed decisions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Supports AI and ML processing for predictive insights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Provides long-term storage for data retention and backup</a:t>
            </a:r>
          </a:p>
        </p:txBody>
      </p:sp>
      <p:sp>
        <p:nvSpPr>
          <p:cNvPr id="1048609" name="TextBox 3"/>
          <p:cNvSpPr txBox="1"/>
          <p:nvPr/>
        </p:nvSpPr>
        <p:spPr>
          <a:xfrm>
            <a:off x="666750" y="581025"/>
            <a:ext cx="6886575" cy="264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Cloud Layer Overview</a:t>
            </a:r>
          </a:p>
        </p:txBody>
      </p:sp>
      <p:grpSp>
        <p:nvGrpSpPr>
          <p:cNvPr id="41" name="Group 4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1048610" name="Freeform 5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1048611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12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48614" name="TextBox 7"/>
          <p:cNvSpPr txBox="1"/>
          <p:nvPr/>
        </p:nvSpPr>
        <p:spPr>
          <a:xfrm>
            <a:off x="666750" y="809625"/>
            <a:ext cx="7294529" cy="3048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Working Principle of </a:t>
            </a:r>
            <a:r>
              <a:rPr lang="en-US" sz="8000" u="none" strike="noStrik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Fog Computing</a:t>
            </a:r>
          </a:p>
        </p:txBody>
      </p:sp>
      <p:sp>
        <p:nvSpPr>
          <p:cNvPr id="1048615" name="TextBox 8"/>
          <p:cNvSpPr txBox="1"/>
          <p:nvPr/>
        </p:nvSpPr>
        <p:spPr>
          <a:xfrm>
            <a:off x="1028700" y="4700526"/>
            <a:ext cx="6886575" cy="2643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f</a:t>
            </a:r>
            <a:r>
              <a:rPr lang="en-US" altLang="en-GB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 ow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process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starts at the Edge, where sensors generate real-time data, which is then processed by the Fog layer. Finally, the Cloud handles complex tasks, ensuring efficiency and speed.</a:t>
            </a:r>
            <a:endParaRPr lang="zh-CN" altLang="en-US"/>
          </a:p>
        </p:txBody>
      </p:sp>
      <p:pic>
        <p:nvPicPr>
          <p:cNvPr id="2097154" name="Picture 209715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040681" y="1348233"/>
            <a:ext cx="10056548" cy="67045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1048616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17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47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1048618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</p:sp>
      </p:grpSp>
      <p:sp>
        <p:nvSpPr>
          <p:cNvPr id="1048619" name="TextBox 7"/>
          <p:cNvSpPr txBox="1"/>
          <p:nvPr/>
        </p:nvSpPr>
        <p:spPr>
          <a:xfrm>
            <a:off x="666750" y="809625"/>
            <a:ext cx="7154659" cy="203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Advantages of Fog Computing</a:t>
            </a:r>
          </a:p>
        </p:txBody>
      </p:sp>
      <p:sp>
        <p:nvSpPr>
          <p:cNvPr id="1048620" name="TextBox 8"/>
          <p:cNvSpPr txBox="1"/>
          <p:nvPr/>
        </p:nvSpPr>
        <p:spPr>
          <a:xfrm>
            <a:off x="1028700" y="3782632"/>
            <a:ext cx="6886575" cy="37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Fog computing offers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signif</a:t>
            </a:r>
            <a:r>
              <a:rPr lang="en-US" altLang="en-GB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icant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benefts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including low latency for real-time processing, reduced network congestion, enhanced security measures, high reliability, and support for critical applications, making it essential for modern infrastructure.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extBox 2"/>
          <p:cNvSpPr txBox="1"/>
          <p:nvPr/>
        </p:nvSpPr>
        <p:spPr>
          <a:xfrm>
            <a:off x="666750" y="3864428"/>
            <a:ext cx="7814734" cy="479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Smart Cities: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Enhance urban living through connected services and infrastructure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Healthcare: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Real-time patient monitoring for improved medical outcomes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Autonomous Vehicles: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Enable safer navigation through immediate data processing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Agriculture: 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Precison farming and Resource Optimization enabling Smart-agriculture.</a:t>
            </a:r>
          </a:p>
        </p:txBody>
      </p:sp>
      <p:sp>
        <p:nvSpPr>
          <p:cNvPr id="1048622" name="TextBox 3"/>
          <p:cNvSpPr txBox="1"/>
          <p:nvPr/>
        </p:nvSpPr>
        <p:spPr>
          <a:xfrm>
            <a:off x="666750" y="581025"/>
            <a:ext cx="6886575" cy="264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Applications of Fog Computing</a:t>
            </a:r>
          </a:p>
        </p:txBody>
      </p:sp>
      <p:grpSp>
        <p:nvGrpSpPr>
          <p:cNvPr id="49" name="Group 4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1048623" name="Freeform 5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r="-417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1048624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25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48627" name="TextBox 7"/>
          <p:cNvSpPr txBox="1"/>
          <p:nvPr/>
        </p:nvSpPr>
        <p:spPr>
          <a:xfrm>
            <a:off x="666750" y="809625"/>
            <a:ext cx="6886575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Comparison of Computing Models</a:t>
            </a:r>
          </a:p>
        </p:txBody>
      </p:sp>
      <p:sp>
        <p:nvSpPr>
          <p:cNvPr id="1048628" name="TextBox 8"/>
          <p:cNvSpPr txBox="1"/>
          <p:nvPr/>
        </p:nvSpPr>
        <p:spPr>
          <a:xfrm>
            <a:off x="666750" y="4630051"/>
            <a:ext cx="6886575" cy="310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9"/>
              </a:lnSpc>
            </a:pPr>
            <a:r>
              <a:rPr lang="en-US" sz="2899" u="none" strike="noStrike" spc="-43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table highlights the </a:t>
            </a:r>
            <a:r>
              <a:rPr lang="en-US" sz="2899" b="1" u="none" strike="noStrike" spc="-43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differences</a:t>
            </a:r>
            <a:r>
              <a:rPr lang="en-US" sz="2899" u="none" strike="noStrike" spc="-43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between Cloud, Fog, and Edge computing, focusing on location, latency, processing capabilities, and bandwidth, providing a clear understanding of each model's strengths and weaknesses.</a:t>
            </a:r>
          </a:p>
        </p:txBody>
      </p:sp>
      <p:pic>
        <p:nvPicPr>
          <p:cNvPr id="2097155" name="Picture 209715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036524" y="411184"/>
            <a:ext cx="10251476" cy="9464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1048629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48630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48631" name="TextBox 5"/>
          <p:cNvSpPr txBox="1"/>
          <p:nvPr/>
        </p:nvSpPr>
        <p:spPr>
          <a:xfrm>
            <a:off x="1447801" y="1257300"/>
            <a:ext cx="14421988" cy="2047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u="none" strike="noStrike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Conclusion: Fog Computing Essentials</a:t>
            </a:r>
          </a:p>
        </p:txBody>
      </p:sp>
      <p:sp>
        <p:nvSpPr>
          <p:cNvPr id="1048632" name="TextBox 6"/>
          <p:cNvSpPr txBox="1"/>
          <p:nvPr/>
        </p:nvSpPr>
        <p:spPr>
          <a:xfrm>
            <a:off x="2575904" y="4005731"/>
            <a:ext cx="13136193" cy="444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Fog computing effectively 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bridges the gap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between cloud and edge, enabling low latency and enhancing IoT effciency. 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is crucial for developing future smart infrastructure and improving real-time processing capabilities.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Improves </a:t>
            </a:r>
            <a:r>
              <a:rPr lang="en-US" altLang="en-GB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effcenc</a:t>
            </a:r>
            <a:r>
              <a:rPr lang="en-US" sz="2999" b="1" u="none" strike="noStrike" spc="-44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 and performance</a:t>
            </a:r>
            <a:r>
              <a:rPr lang="en-US" sz="2999" u="none" strike="noStrike" spc="-44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by distributing computing resources </a:t>
            </a:r>
            <a:endParaRPr lang="zh-CN" altLang="en-US"/>
          </a:p>
          <a:p>
            <a:pPr algn="l">
              <a:lnSpc>
                <a:spcPts val="4199"/>
              </a:lnSpc>
            </a:pPr>
            <a:endParaRPr lang="zh-CN" altLang="en-US"/>
          </a:p>
          <a:p>
            <a:pPr algn="l">
              <a:lnSpc>
                <a:spcPts val="4899"/>
              </a:lnSpc>
            </a:pPr>
            <a:r>
              <a:rPr lang="en-US" sz="3499" b="1" u="none" strike="noStrike" spc="-52">
                <a:solidFill>
                  <a:srgbClr val="0D1C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Closing Statement: Fog Computing is a key technology for Future-Smart infrastructure.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extBox 2"/>
          <p:cNvSpPr txBox="1"/>
          <p:nvPr/>
        </p:nvSpPr>
        <p:spPr>
          <a:xfrm>
            <a:off x="5521878" y="5977459"/>
            <a:ext cx="8324850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0D1C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Your attention is appreciated!</a:t>
            </a:r>
          </a:p>
        </p:txBody>
      </p:sp>
      <p:sp>
        <p:nvSpPr>
          <p:cNvPr id="1048634" name="TextBox 3"/>
          <p:cNvSpPr txBox="1"/>
          <p:nvPr/>
        </p:nvSpPr>
        <p:spPr>
          <a:xfrm>
            <a:off x="3634262" y="3144366"/>
            <a:ext cx="11019475" cy="1899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YOU!</a:t>
            </a:r>
          </a:p>
        </p:txBody>
      </p:sp>
      <p:sp>
        <p:nvSpPr>
          <p:cNvPr id="1048635" name="Freeform 4"/>
          <p:cNvSpPr/>
          <p:nvPr/>
        </p:nvSpPr>
        <p:spPr>
          <a:xfrm rot="-3117037">
            <a:off x="14819958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Microsoft Office PowerPoint</Application>
  <PresentationFormat>Custom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Georgia Pro Condensed</vt:lpstr>
      <vt:lpstr>Helvetica World</vt:lpstr>
      <vt:lpstr>Helvetica World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Fog Computing</dc:title>
  <dc:creator>RMP2402</dc:creator>
  <cp:lastModifiedBy>Debottam Kar</cp:lastModifiedBy>
  <cp:revision>1</cp:revision>
  <dcterms:created xsi:type="dcterms:W3CDTF">2006-08-14T15:00:00Z</dcterms:created>
  <dcterms:modified xsi:type="dcterms:W3CDTF">2026-03-27T15:08:58Z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b2a74a5766404d1dacde9bc1e8013eae</vt:lpwstr>
  </property>
</Properties>
</file>